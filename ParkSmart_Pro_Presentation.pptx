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6" r:id="rId11"/>
    <p:sldId id="267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95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8E5A-6B44-36E7-132F-43897E288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AF639-335D-9673-945E-86FFE279C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B801D-1EAF-5A86-DD84-E1FA4BC7B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D9072-92F4-C34B-014C-5B3024F435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72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7A6E-F61F-C6A1-77A4-4CA458D5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93CCF-3403-DBFB-C3AE-E891CCF3B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C601F-31E9-3C90-BE24-DC094F297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1A215-336C-B6CD-3959-088F0995A3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53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CD9C0-AEED-085E-008D-A27A36A7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4E3B5-38D1-09FA-A063-B7A8108BF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C1F77-13F0-4C55-6AE4-77D7573A1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BE06D-CDA6-DA22-6A3A-BA557CE7D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59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7D936-D26F-31C8-9509-27A4E146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A21C2-CCA7-8242-ED27-806E42339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FDBC0-4B34-A5DF-F2E9-67BC8A07E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8E809-2868-BE22-5593-CCEC88114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33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457200"/>
            <a:ext cx="2194560" cy="219456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2286000" cy="22860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02920"/>
            <a:ext cx="77724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98448" y="594360"/>
            <a:ext cx="5029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5943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PRO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1887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ParkSmart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384048" y="2121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Solution for Telangana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" y="2697480"/>
            <a:ext cx="32004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926080"/>
            <a:ext cx="530352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30175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Submitted by: </a:t>
            </a:r>
            <a:r>
              <a:rPr lang="en-US" sz="1200" b="1" dirty="0">
                <a:solidFill>
                  <a:srgbClr val="FFFFFF"/>
                </a:solidFill>
              </a:rPr>
              <a:t>Madhuvani Nallala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Branch: </a:t>
            </a:r>
            <a:r>
              <a:rPr lang="en-US" sz="1200" dirty="0">
                <a:solidFill>
                  <a:srgbClr val="CBD5E1"/>
                </a:solidFill>
              </a:rPr>
              <a:t>CSE-AIML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Project: </a:t>
            </a:r>
            <a:r>
              <a:rPr lang="en-US" sz="1200" dirty="0">
                <a:solidFill>
                  <a:srgbClr val="CBD5E1"/>
                </a:solidFill>
              </a:rPr>
              <a:t>ParkSmart Pro — Web Application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Tech: </a:t>
            </a:r>
            <a:r>
              <a:rPr lang="en-US" sz="1200" dirty="0">
                <a:solidFill>
                  <a:srgbClr val="10B981"/>
                </a:solidFill>
              </a:rPr>
              <a:t>HTML · CSS · JavaScript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12801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468880"/>
            <a:ext cx="12801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542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20+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3035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Locations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2468880"/>
            <a:ext cx="12801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2468880"/>
            <a:ext cx="12801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542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1000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0960" y="3035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Slots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12801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566160"/>
            <a:ext cx="12801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6393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4133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Cities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80960" y="3566160"/>
            <a:ext cx="12801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960" y="3566160"/>
            <a:ext cx="12801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36393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</a:rPr>
              <a:t>24/7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0" y="4133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Uptime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© 2025 ParkSmart Pro · Built for Telangana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Introduction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91440" cy="3566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About ParkSmart Pro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19019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ParkSmart Pro is a web-based smart parking management system designed specifically for Telangana.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4505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It enables users to find, book, and pay for parking in real-time across 4 major cities.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299923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The system supports two user roles: Customers (book/cancel/pay) and Admins (manage &amp; monitor).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" y="354787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474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Built using pure HTML, CSS, and JavaScript — fully functional in any modern browser.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40965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Addresses the growing urban parking congestion problem with a digital-first approach.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1234440"/>
            <a:ext cx="1508760" cy="1554480"/>
          </a:xfrm>
          <a:prstGeom prst="rect">
            <a:avLst/>
          </a:prstGeom>
          <a:solidFill>
            <a:srgbClr val="1E2D45"/>
          </a:solidFill>
          <a:ln w="12700">
            <a:solidFill>
              <a:srgbClr val="6366F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1234440"/>
            <a:ext cx="1508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417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19476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Availability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22585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Real-time slot tracking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0" y="1234440"/>
            <a:ext cx="1508760" cy="1554480"/>
          </a:xfrm>
          <a:prstGeom prst="rect">
            <a:avLst/>
          </a:prstGeom>
          <a:solidFill>
            <a:srgbClr val="1E2D45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0" y="1234440"/>
            <a:ext cx="1508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417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19476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Instant Booking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22585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Reserve in seconds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23560" y="3017520"/>
            <a:ext cx="1508760" cy="1554480"/>
          </a:xfrm>
          <a:prstGeom prst="rect">
            <a:avLst/>
          </a:prstGeom>
          <a:solidFill>
            <a:srgbClr val="1E2D45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23560" y="3017520"/>
            <a:ext cx="1508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3200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23560" y="3730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Easy Exit Pay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40416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Pay for time used only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3017520"/>
            <a:ext cx="1508760" cy="1554480"/>
          </a:xfrm>
          <a:prstGeom prst="rect">
            <a:avLst/>
          </a:prstGeom>
          <a:solidFill>
            <a:srgbClr val="1E2D45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0" y="3017520"/>
            <a:ext cx="1508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3200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15200" y="3730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 Control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40416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Full staff dashboard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ParkSmart Pro  ·  Smart Parking Solution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502920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12801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Slot Visibility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159105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Provide live parking availability data to users before they arrive at the location, reducing traffic and wait times.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88720"/>
            <a:ext cx="5029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12801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Seamless Booking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22392" y="159105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Enable customers to instantly book, confirm, and receive digital parking tickets within seconds.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23160"/>
            <a:ext cx="50292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231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7552" y="25146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Hassle-Free Exit &amp; Payment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28254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Allow users to pay only for the actual duration they parked — no pre-payments or overpayments.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42316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423160"/>
            <a:ext cx="502920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231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25146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Multi-City Coverage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28254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Expand smart parking to Hyderabad, Warangal, Karimnagar, and Nizamabad — 20+ locations.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57600"/>
            <a:ext cx="502920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5760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7552" y="37490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&amp; Staff Management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405993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Provide Main Admin and Location Admin dashboards to monitor bookings, slots, and revenue in real time.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65760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657600"/>
            <a:ext cx="5029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65760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22392" y="37490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Reduce Urban Parking Chaos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22392" y="405993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Digitise the parking process to cut congestion, save fuel, and improve urban mobility in Telangana.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ParkSmart Pro  ·  Smart Parking Solution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Stakeholders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99339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199339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335024"/>
            <a:ext cx="731520" cy="7315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3350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21762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End 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4871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366F1"/>
                </a:solidFill>
              </a:rPr>
              <a:t>Primary Users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1444752" cy="27432"/>
          </a:xfrm>
          <a:prstGeom prst="rect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9864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34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Book parking slots in real-time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273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Receive instant digital tickets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776472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712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Pay only for time used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1513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Cancel bookings when needed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50592" y="1170432"/>
            <a:ext cx="199339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50592" y="1170432"/>
            <a:ext cx="199339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81528" y="1335024"/>
            <a:ext cx="731520" cy="73152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13350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450592" y="21762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 Admin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50592" y="24871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5CF6"/>
                </a:solidFill>
              </a:rPr>
              <a:t>madhu / System Owner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24912" y="2770632"/>
            <a:ext cx="1444752" cy="27432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24912" y="289864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2834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Full dashboard access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24912" y="33375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3273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Monitor all 20+ locations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24912" y="377647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9504" y="3712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View total revenue &amp; stats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24912" y="421538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9504" y="41513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Search any vehicle booking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26864" y="1170432"/>
            <a:ext cx="199339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1170432"/>
            <a:ext cx="19933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57800" y="1335024"/>
            <a:ext cx="731520" cy="73152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13350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626864" y="21762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Location Admin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26864" y="24871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B981"/>
                </a:solidFill>
              </a:rPr>
              <a:t>Per-Location Staff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01184" y="2770632"/>
            <a:ext cx="1444752" cy="27432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01184" y="28986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65776" y="2834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Manage single assigned location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01184" y="33375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65776" y="3273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View local slot availability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01184" y="3776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65776" y="3712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Track bookings at their site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01184" y="42153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65776" y="41513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Monitor location revenue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03136" y="1170432"/>
            <a:ext cx="199339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03136" y="1170432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34072" y="1335024"/>
            <a:ext cx="731520" cy="73152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34072" y="13350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6803136" y="21762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Telangana Cities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03136" y="24871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</a:rPr>
              <a:t>Geographic Scope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77456" y="2770632"/>
            <a:ext cx="1444752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77456" y="28986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42048" y="2834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Hyderabad — 5 Locations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077456" y="33375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42048" y="3273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Warangal — 5 Locations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077456" y="3776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42048" y="3712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Karimnagar — 5 Locations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077456" y="42153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42048" y="41513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Nizamabad — 5 Locations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ParkSmart Pro  ·  Smart Parking Solution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Programming Languages, Tools &amp; Software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366F1"/>
                </a:solidFill>
              </a:rPr>
              <a:t>LANGUAGES &amp; FRONTEND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393192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44752"/>
            <a:ext cx="54864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4475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1499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Structure &amp; layout of all web pages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393192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21992"/>
            <a:ext cx="54864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22199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4128" y="22768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CSS3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25511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Styling, animations &amp; responsive design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393192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99232"/>
            <a:ext cx="54864" cy="67665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99923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JavaScript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328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Logic, interactivity &amp; data handling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393192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76472"/>
            <a:ext cx="54864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77647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🅰️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24128" y="3831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Poppins (Google Fonts)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" y="4105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Modern typography for clean UI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TOOLS &amp; ENVIRONMENT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444752"/>
            <a:ext cx="42062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444752"/>
            <a:ext cx="54864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447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14721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 Code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1719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Primary code editor &amp; IDE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2103120"/>
            <a:ext cx="42062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210312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1031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12080" y="2130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Chrome / Browser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Live testing &amp; debugging platform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2761488"/>
            <a:ext cx="42062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0" y="2761488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76148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1208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LocalStorage API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0358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Client-side data persistence layer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3419856"/>
            <a:ext cx="42062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0" y="3419856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4198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12080" y="34472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Unsplash Images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36941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High-quality free imagery for UI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4078224"/>
            <a:ext cx="42062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0" y="4078224"/>
            <a:ext cx="54864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407822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212080" y="4105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Frameworks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12080" y="43525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Pure vanilla JS — zero dependencies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ParkSmart Pro  ·  Smart Parking Solution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A59E5-EF7D-7968-2CB2-6A306D78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>
            <a:extLst>
              <a:ext uri="{FF2B5EF4-FFF2-40B4-BE49-F238E27FC236}">
                <a16:creationId xmlns:a16="http://schemas.microsoft.com/office/drawing/2014/main" id="{D6C6A54C-15D2-2FED-ECB1-BA0E33582EB7}"/>
              </a:ext>
            </a:extLst>
          </p:cNvPr>
          <p:cNvSpPr/>
          <p:nvPr/>
        </p:nvSpPr>
        <p:spPr>
          <a:xfrm>
            <a:off x="411480" y="82296"/>
            <a:ext cx="347472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Text 1">
            <a:extLst>
              <a:ext uri="{FF2B5EF4-FFF2-40B4-BE49-F238E27FC236}">
                <a16:creationId xmlns:a16="http://schemas.microsoft.com/office/drawing/2014/main" id="{A1F99DA5-A70C-E213-7E79-C150B21B7592}"/>
              </a:ext>
            </a:extLst>
          </p:cNvPr>
          <p:cNvSpPr/>
          <p:nvPr/>
        </p:nvSpPr>
        <p:spPr>
          <a:xfrm>
            <a:off x="411480" y="82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150" name="Text 2">
            <a:extLst>
              <a:ext uri="{FF2B5EF4-FFF2-40B4-BE49-F238E27FC236}">
                <a16:creationId xmlns:a16="http://schemas.microsoft.com/office/drawing/2014/main" id="{E928330F-048C-A87A-3AC4-C26B0511FF1B}"/>
              </a:ext>
            </a:extLst>
          </p:cNvPr>
          <p:cNvSpPr/>
          <p:nvPr/>
        </p:nvSpPr>
        <p:spPr>
          <a:xfrm>
            <a:off x="822960" y="1005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Used to Generate the Codes</a:t>
            </a:r>
            <a:endParaRPr lang="en-US" sz="2200" dirty="0"/>
          </a:p>
        </p:txBody>
      </p:sp>
      <p:sp>
        <p:nvSpPr>
          <p:cNvPr id="151" name="Shape 3">
            <a:extLst>
              <a:ext uri="{FF2B5EF4-FFF2-40B4-BE49-F238E27FC236}">
                <a16:creationId xmlns:a16="http://schemas.microsoft.com/office/drawing/2014/main" id="{42D8BCEF-D038-9EFC-F78F-832B49DA7A8E}"/>
              </a:ext>
            </a:extLst>
          </p:cNvPr>
          <p:cNvSpPr/>
          <p:nvPr/>
        </p:nvSpPr>
        <p:spPr>
          <a:xfrm>
            <a:off x="158262" y="490962"/>
            <a:ext cx="83210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52" name="Shape 4">
            <a:extLst>
              <a:ext uri="{FF2B5EF4-FFF2-40B4-BE49-F238E27FC236}">
                <a16:creationId xmlns:a16="http://schemas.microsoft.com/office/drawing/2014/main" id="{8814E231-AC98-3C64-9070-92D2F420EC5A}"/>
              </a:ext>
            </a:extLst>
          </p:cNvPr>
          <p:cNvSpPr/>
          <p:nvPr/>
        </p:nvSpPr>
        <p:spPr>
          <a:xfrm>
            <a:off x="411480" y="576072"/>
            <a:ext cx="2743200" cy="320040"/>
          </a:xfrm>
          <a:prstGeom prst="rect">
            <a:avLst/>
          </a:prstGeom>
          <a:solidFill>
            <a:srgbClr val="E34F26">
              <a:alpha val="8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Text 5">
            <a:extLst>
              <a:ext uri="{FF2B5EF4-FFF2-40B4-BE49-F238E27FC236}">
                <a16:creationId xmlns:a16="http://schemas.microsoft.com/office/drawing/2014/main" id="{E2DE539C-992A-42A2-9373-004C9910DBC4}"/>
              </a:ext>
            </a:extLst>
          </p:cNvPr>
          <p:cNvSpPr/>
          <p:nvPr/>
        </p:nvSpPr>
        <p:spPr>
          <a:xfrm>
            <a:off x="502920" y="576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54" name="Shape 6">
            <a:extLst>
              <a:ext uri="{FF2B5EF4-FFF2-40B4-BE49-F238E27FC236}">
                <a16:creationId xmlns:a16="http://schemas.microsoft.com/office/drawing/2014/main" id="{12623027-0405-9A17-6437-6539D479A2B9}"/>
              </a:ext>
            </a:extLst>
          </p:cNvPr>
          <p:cNvSpPr/>
          <p:nvPr/>
        </p:nvSpPr>
        <p:spPr>
          <a:xfrm>
            <a:off x="411480" y="98755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Shape 7">
            <a:extLst>
              <a:ext uri="{FF2B5EF4-FFF2-40B4-BE49-F238E27FC236}">
                <a16:creationId xmlns:a16="http://schemas.microsoft.com/office/drawing/2014/main" id="{33A06CA7-C93D-8CCC-F571-49B2DBFB1B2C}"/>
              </a:ext>
            </a:extLst>
          </p:cNvPr>
          <p:cNvSpPr/>
          <p:nvPr/>
        </p:nvSpPr>
        <p:spPr>
          <a:xfrm>
            <a:off x="411480" y="987552"/>
            <a:ext cx="54864" cy="53035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8">
            <a:extLst>
              <a:ext uri="{FF2B5EF4-FFF2-40B4-BE49-F238E27FC236}">
                <a16:creationId xmlns:a16="http://schemas.microsoft.com/office/drawing/2014/main" id="{542DD04C-B2E8-4714-8C52-5B03C6569186}"/>
              </a:ext>
            </a:extLst>
          </p:cNvPr>
          <p:cNvSpPr/>
          <p:nvPr/>
        </p:nvSpPr>
        <p:spPr>
          <a:xfrm>
            <a:off x="502920" y="1060704"/>
            <a:ext cx="201168" cy="201168"/>
          </a:xfrm>
          <a:prstGeom prst="rect">
            <a:avLst/>
          </a:prstGeom>
          <a:solidFill>
            <a:srgbClr val="E34F26">
              <a:alpha val="7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9">
            <a:extLst>
              <a:ext uri="{FF2B5EF4-FFF2-40B4-BE49-F238E27FC236}">
                <a16:creationId xmlns:a16="http://schemas.microsoft.com/office/drawing/2014/main" id="{40B97F2D-3BDC-72E5-22C4-D8AFA4C300D9}"/>
              </a:ext>
            </a:extLst>
          </p:cNvPr>
          <p:cNvSpPr/>
          <p:nvPr/>
        </p:nvSpPr>
        <p:spPr>
          <a:xfrm>
            <a:off x="502920" y="1060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58" name="Text 10">
            <a:extLst>
              <a:ext uri="{FF2B5EF4-FFF2-40B4-BE49-F238E27FC236}">
                <a16:creationId xmlns:a16="http://schemas.microsoft.com/office/drawing/2014/main" id="{46898728-1644-71DF-9CEF-E61EF8012C21}"/>
              </a:ext>
            </a:extLst>
          </p:cNvPr>
          <p:cNvSpPr/>
          <p:nvPr/>
        </p:nvSpPr>
        <p:spPr>
          <a:xfrm>
            <a:off x="758952" y="1033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on smart parking,ParkSmart Pro with HTML5 structure, add DOCTYPE, UTF-8, viewport, title and link CSS &amp; JS files</a:t>
            </a:r>
            <a:endParaRPr lang="en-US" sz="700" dirty="0"/>
          </a:p>
        </p:txBody>
      </p:sp>
      <p:sp>
        <p:nvSpPr>
          <p:cNvPr id="159" name="Shape 11">
            <a:extLst>
              <a:ext uri="{FF2B5EF4-FFF2-40B4-BE49-F238E27FC236}">
                <a16:creationId xmlns:a16="http://schemas.microsoft.com/office/drawing/2014/main" id="{27C15E5D-CAE1-1A30-135C-D002CDC96494}"/>
              </a:ext>
            </a:extLst>
          </p:cNvPr>
          <p:cNvSpPr/>
          <p:nvPr/>
        </p:nvSpPr>
        <p:spPr>
          <a:xfrm>
            <a:off x="411480" y="158191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Shape 12">
            <a:extLst>
              <a:ext uri="{FF2B5EF4-FFF2-40B4-BE49-F238E27FC236}">
                <a16:creationId xmlns:a16="http://schemas.microsoft.com/office/drawing/2014/main" id="{4B9ECE78-3F72-8CC0-23E9-7FFF92C9929A}"/>
              </a:ext>
            </a:extLst>
          </p:cNvPr>
          <p:cNvSpPr/>
          <p:nvPr/>
        </p:nvSpPr>
        <p:spPr>
          <a:xfrm>
            <a:off x="411480" y="1581912"/>
            <a:ext cx="54864" cy="53035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Shape 13">
            <a:extLst>
              <a:ext uri="{FF2B5EF4-FFF2-40B4-BE49-F238E27FC236}">
                <a16:creationId xmlns:a16="http://schemas.microsoft.com/office/drawing/2014/main" id="{3D3D04EB-CF86-EE82-79A8-9F3B7D19416D}"/>
              </a:ext>
            </a:extLst>
          </p:cNvPr>
          <p:cNvSpPr/>
          <p:nvPr/>
        </p:nvSpPr>
        <p:spPr>
          <a:xfrm>
            <a:off x="502920" y="1655064"/>
            <a:ext cx="201168" cy="201168"/>
          </a:xfrm>
          <a:prstGeom prst="rect">
            <a:avLst/>
          </a:prstGeom>
          <a:solidFill>
            <a:srgbClr val="E34F26">
              <a:alpha val="7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EE1264B5-4E0C-B905-2B17-62EDAC4C998E}"/>
              </a:ext>
            </a:extLst>
          </p:cNvPr>
          <p:cNvSpPr/>
          <p:nvPr/>
        </p:nvSpPr>
        <p:spPr>
          <a:xfrm>
            <a:off x="502920" y="1655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30D0A1A6-3D0F-1B41-1F06-C4BF60051533}"/>
              </a:ext>
            </a:extLst>
          </p:cNvPr>
          <p:cNvSpPr/>
          <p:nvPr/>
        </p:nvSpPr>
        <p:spPr>
          <a:xfrm>
            <a:off x="758952" y="1627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Header sticky with logo (car emoji, ParkSmart, tagline) and add PRO badge with glowing background orbs</a:t>
            </a:r>
            <a:endParaRPr lang="en-US" sz="700" dirty="0"/>
          </a:p>
        </p:txBody>
      </p:sp>
      <p:sp>
        <p:nvSpPr>
          <p:cNvPr id="164" name="Shape 16">
            <a:extLst>
              <a:ext uri="{FF2B5EF4-FFF2-40B4-BE49-F238E27FC236}">
                <a16:creationId xmlns:a16="http://schemas.microsoft.com/office/drawing/2014/main" id="{192EA3A8-A63F-D239-8069-6C94F8C38D38}"/>
              </a:ext>
            </a:extLst>
          </p:cNvPr>
          <p:cNvSpPr/>
          <p:nvPr/>
        </p:nvSpPr>
        <p:spPr>
          <a:xfrm>
            <a:off x="411480" y="217627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Shape 17">
            <a:extLst>
              <a:ext uri="{FF2B5EF4-FFF2-40B4-BE49-F238E27FC236}">
                <a16:creationId xmlns:a16="http://schemas.microsoft.com/office/drawing/2014/main" id="{1C2B89CB-7D8E-8AFC-CC04-6D1D60966D3B}"/>
              </a:ext>
            </a:extLst>
          </p:cNvPr>
          <p:cNvSpPr/>
          <p:nvPr/>
        </p:nvSpPr>
        <p:spPr>
          <a:xfrm>
            <a:off x="411480" y="2176272"/>
            <a:ext cx="54864" cy="53035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Shape 18">
            <a:extLst>
              <a:ext uri="{FF2B5EF4-FFF2-40B4-BE49-F238E27FC236}">
                <a16:creationId xmlns:a16="http://schemas.microsoft.com/office/drawing/2014/main" id="{7A989C2D-0E4D-236C-307F-5BE7B0DBAA15}"/>
              </a:ext>
            </a:extLst>
          </p:cNvPr>
          <p:cNvSpPr/>
          <p:nvPr/>
        </p:nvSpPr>
        <p:spPr>
          <a:xfrm>
            <a:off x="502920" y="2249424"/>
            <a:ext cx="201168" cy="201168"/>
          </a:xfrm>
          <a:prstGeom prst="rect">
            <a:avLst/>
          </a:prstGeom>
          <a:solidFill>
            <a:srgbClr val="E34F26">
              <a:alpha val="7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Text 19">
            <a:extLst>
              <a:ext uri="{FF2B5EF4-FFF2-40B4-BE49-F238E27FC236}">
                <a16:creationId xmlns:a16="http://schemas.microsoft.com/office/drawing/2014/main" id="{B63C1AC6-61CF-C6EA-F936-7F4801395D79}"/>
              </a:ext>
            </a:extLst>
          </p:cNvPr>
          <p:cNvSpPr/>
          <p:nvPr/>
        </p:nvSpPr>
        <p:spPr>
          <a:xfrm>
            <a:off x="502920" y="22494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68" name="Text 20">
            <a:extLst>
              <a:ext uri="{FF2B5EF4-FFF2-40B4-BE49-F238E27FC236}">
                <a16:creationId xmlns:a16="http://schemas.microsoft.com/office/drawing/2014/main" id="{81734042-E33E-6395-10C8-21ADA7C7C5B9}"/>
              </a:ext>
            </a:extLst>
          </p:cNvPr>
          <p:cNvSpPr/>
          <p:nvPr/>
        </p:nvSpPr>
        <p:spPr>
          <a:xfrm>
            <a:off x="758952" y="22219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Hero Section with heading 'Park Smarter' and a short description, center aligned</a:t>
            </a:r>
            <a:endParaRPr lang="en-US" sz="700" dirty="0"/>
          </a:p>
        </p:txBody>
      </p:sp>
      <p:sp>
        <p:nvSpPr>
          <p:cNvPr id="169" name="Shape 21">
            <a:extLst>
              <a:ext uri="{FF2B5EF4-FFF2-40B4-BE49-F238E27FC236}">
                <a16:creationId xmlns:a16="http://schemas.microsoft.com/office/drawing/2014/main" id="{A12940B7-606E-558B-9E5C-88A8D8A38335}"/>
              </a:ext>
            </a:extLst>
          </p:cNvPr>
          <p:cNvSpPr/>
          <p:nvPr/>
        </p:nvSpPr>
        <p:spPr>
          <a:xfrm>
            <a:off x="411480" y="277063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0" name="Shape 22">
            <a:extLst>
              <a:ext uri="{FF2B5EF4-FFF2-40B4-BE49-F238E27FC236}">
                <a16:creationId xmlns:a16="http://schemas.microsoft.com/office/drawing/2014/main" id="{584BC22F-7221-AB21-4B22-2303BD333A74}"/>
              </a:ext>
            </a:extLst>
          </p:cNvPr>
          <p:cNvSpPr/>
          <p:nvPr/>
        </p:nvSpPr>
        <p:spPr>
          <a:xfrm>
            <a:off x="411480" y="2770632"/>
            <a:ext cx="54864" cy="53035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Shape 23">
            <a:extLst>
              <a:ext uri="{FF2B5EF4-FFF2-40B4-BE49-F238E27FC236}">
                <a16:creationId xmlns:a16="http://schemas.microsoft.com/office/drawing/2014/main" id="{5FF9D4F4-88E1-081B-ADCD-39F65E6E300E}"/>
              </a:ext>
            </a:extLst>
          </p:cNvPr>
          <p:cNvSpPr/>
          <p:nvPr/>
        </p:nvSpPr>
        <p:spPr>
          <a:xfrm>
            <a:off x="502920" y="2843784"/>
            <a:ext cx="201168" cy="201168"/>
          </a:xfrm>
          <a:prstGeom prst="rect">
            <a:avLst/>
          </a:prstGeom>
          <a:solidFill>
            <a:srgbClr val="E34F26">
              <a:alpha val="7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Text 24">
            <a:extLst>
              <a:ext uri="{FF2B5EF4-FFF2-40B4-BE49-F238E27FC236}">
                <a16:creationId xmlns:a16="http://schemas.microsoft.com/office/drawing/2014/main" id="{3D633AF5-BBC7-E8A1-0E8E-877E7D8856ED}"/>
              </a:ext>
            </a:extLst>
          </p:cNvPr>
          <p:cNvSpPr/>
          <p:nvPr/>
        </p:nvSpPr>
        <p:spPr>
          <a:xfrm>
            <a:off x="502920" y="2843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73" name="Text 25">
            <a:extLst>
              <a:ext uri="{FF2B5EF4-FFF2-40B4-BE49-F238E27FC236}">
                <a16:creationId xmlns:a16="http://schemas.microsoft.com/office/drawing/2014/main" id="{C3F90FD7-F235-F2A4-27C3-22042E52E837}"/>
              </a:ext>
            </a:extLst>
          </p:cNvPr>
          <p:cNvSpPr/>
          <p:nvPr/>
        </p:nvSpPr>
        <p:spPr>
          <a:xfrm>
            <a:off x="758952" y="2816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City Pills for Hyderabad, Warangal, Karimnagar, Nizamabad with images and include a stats bar showing locations, total slots, availability and cities</a:t>
            </a:r>
            <a:endParaRPr lang="en-US" sz="700" dirty="0"/>
          </a:p>
        </p:txBody>
      </p:sp>
      <p:sp>
        <p:nvSpPr>
          <p:cNvPr id="174" name="Shape 26">
            <a:extLst>
              <a:ext uri="{FF2B5EF4-FFF2-40B4-BE49-F238E27FC236}">
                <a16:creationId xmlns:a16="http://schemas.microsoft.com/office/drawing/2014/main" id="{17C0A285-EB9B-702A-AB08-282552E81FAE}"/>
              </a:ext>
            </a:extLst>
          </p:cNvPr>
          <p:cNvSpPr/>
          <p:nvPr/>
        </p:nvSpPr>
        <p:spPr>
          <a:xfrm>
            <a:off x="411480" y="336499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Shape 27">
            <a:extLst>
              <a:ext uri="{FF2B5EF4-FFF2-40B4-BE49-F238E27FC236}">
                <a16:creationId xmlns:a16="http://schemas.microsoft.com/office/drawing/2014/main" id="{09BEDBB0-6D09-EE0D-9F84-AF1E6D330E88}"/>
              </a:ext>
            </a:extLst>
          </p:cNvPr>
          <p:cNvSpPr/>
          <p:nvPr/>
        </p:nvSpPr>
        <p:spPr>
          <a:xfrm>
            <a:off x="411480" y="3364992"/>
            <a:ext cx="54864" cy="53035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6" name="Shape 28">
            <a:extLst>
              <a:ext uri="{FF2B5EF4-FFF2-40B4-BE49-F238E27FC236}">
                <a16:creationId xmlns:a16="http://schemas.microsoft.com/office/drawing/2014/main" id="{639340DE-7854-F5CF-9DFD-BFBA2019A4B4}"/>
              </a:ext>
            </a:extLst>
          </p:cNvPr>
          <p:cNvSpPr/>
          <p:nvPr/>
        </p:nvSpPr>
        <p:spPr>
          <a:xfrm>
            <a:off x="502920" y="3438144"/>
            <a:ext cx="201168" cy="201168"/>
          </a:xfrm>
          <a:prstGeom prst="rect">
            <a:avLst/>
          </a:prstGeom>
          <a:solidFill>
            <a:srgbClr val="E34F26">
              <a:alpha val="7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29">
            <a:extLst>
              <a:ext uri="{FF2B5EF4-FFF2-40B4-BE49-F238E27FC236}">
                <a16:creationId xmlns:a16="http://schemas.microsoft.com/office/drawing/2014/main" id="{50FA52A7-DCF6-E3EF-553E-9A6C2E797A91}"/>
              </a:ext>
            </a:extLst>
          </p:cNvPr>
          <p:cNvSpPr/>
          <p:nvPr/>
        </p:nvSpPr>
        <p:spPr>
          <a:xfrm>
            <a:off x="502920" y="3438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78" name="Text 30">
            <a:extLst>
              <a:ext uri="{FF2B5EF4-FFF2-40B4-BE49-F238E27FC236}">
                <a16:creationId xmlns:a16="http://schemas.microsoft.com/office/drawing/2014/main" id="{E713D367-AD2D-3860-8C3E-62BF34DB84F6}"/>
              </a:ext>
            </a:extLst>
          </p:cNvPr>
          <p:cNvSpPr/>
          <p:nvPr/>
        </p:nvSpPr>
        <p:spPr>
          <a:xfrm>
            <a:off x="758952" y="3410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 Cards showing Live Availability, Instant Booking, Easy Exit Pay, and Admin Control with icons and descriptions</a:t>
            </a:r>
            <a:endParaRPr lang="en-US" sz="700" dirty="0"/>
          </a:p>
        </p:txBody>
      </p:sp>
      <p:sp>
        <p:nvSpPr>
          <p:cNvPr id="179" name="Shape 31">
            <a:extLst>
              <a:ext uri="{FF2B5EF4-FFF2-40B4-BE49-F238E27FC236}">
                <a16:creationId xmlns:a16="http://schemas.microsoft.com/office/drawing/2014/main" id="{001F0E7F-7885-C033-68B3-B9F1B4F4ED83}"/>
              </a:ext>
            </a:extLst>
          </p:cNvPr>
          <p:cNvSpPr/>
          <p:nvPr/>
        </p:nvSpPr>
        <p:spPr>
          <a:xfrm>
            <a:off x="411480" y="395935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0" name="Shape 32">
            <a:extLst>
              <a:ext uri="{FF2B5EF4-FFF2-40B4-BE49-F238E27FC236}">
                <a16:creationId xmlns:a16="http://schemas.microsoft.com/office/drawing/2014/main" id="{8647FA26-7625-D037-A31F-51163E604FAA}"/>
              </a:ext>
            </a:extLst>
          </p:cNvPr>
          <p:cNvSpPr/>
          <p:nvPr/>
        </p:nvSpPr>
        <p:spPr>
          <a:xfrm>
            <a:off x="411480" y="3959352"/>
            <a:ext cx="54864" cy="53035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Shape 33">
            <a:extLst>
              <a:ext uri="{FF2B5EF4-FFF2-40B4-BE49-F238E27FC236}">
                <a16:creationId xmlns:a16="http://schemas.microsoft.com/office/drawing/2014/main" id="{A2A78339-B8DB-B91B-82BE-A1394AAF8861}"/>
              </a:ext>
            </a:extLst>
          </p:cNvPr>
          <p:cNvSpPr/>
          <p:nvPr/>
        </p:nvSpPr>
        <p:spPr>
          <a:xfrm>
            <a:off x="502920" y="4032504"/>
            <a:ext cx="201168" cy="201168"/>
          </a:xfrm>
          <a:prstGeom prst="rect">
            <a:avLst/>
          </a:prstGeom>
          <a:solidFill>
            <a:srgbClr val="E34F26">
              <a:alpha val="7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34">
            <a:extLst>
              <a:ext uri="{FF2B5EF4-FFF2-40B4-BE49-F238E27FC236}">
                <a16:creationId xmlns:a16="http://schemas.microsoft.com/office/drawing/2014/main" id="{B0EA4445-9A16-3838-D9E0-8B7B805967A5}"/>
              </a:ext>
            </a:extLst>
          </p:cNvPr>
          <p:cNvSpPr/>
          <p:nvPr/>
        </p:nvSpPr>
        <p:spPr>
          <a:xfrm>
            <a:off x="502920" y="40325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83" name="Text 35">
            <a:extLst>
              <a:ext uri="{FF2B5EF4-FFF2-40B4-BE49-F238E27FC236}">
                <a16:creationId xmlns:a16="http://schemas.microsoft.com/office/drawing/2014/main" id="{C7424307-B5B8-B42D-FAB1-6F58976B01B1}"/>
              </a:ext>
            </a:extLst>
          </p:cNvPr>
          <p:cNvSpPr/>
          <p:nvPr/>
        </p:nvSpPr>
        <p:spPr>
          <a:xfrm>
            <a:off x="758952" y="40050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 Cards for Customer and Admin with images, buttons, and a footer section</a:t>
            </a:r>
            <a:endParaRPr lang="en-US" sz="700" dirty="0"/>
          </a:p>
        </p:txBody>
      </p:sp>
      <p:sp>
        <p:nvSpPr>
          <p:cNvPr id="184" name="Shape 36">
            <a:extLst>
              <a:ext uri="{FF2B5EF4-FFF2-40B4-BE49-F238E27FC236}">
                <a16:creationId xmlns:a16="http://schemas.microsoft.com/office/drawing/2014/main" id="{10CE01BB-7CD3-40C9-03C3-D116A86350D2}"/>
              </a:ext>
            </a:extLst>
          </p:cNvPr>
          <p:cNvSpPr/>
          <p:nvPr/>
        </p:nvSpPr>
        <p:spPr>
          <a:xfrm>
            <a:off x="3319272" y="576072"/>
            <a:ext cx="2743200" cy="320040"/>
          </a:xfrm>
          <a:prstGeom prst="rect">
            <a:avLst/>
          </a:prstGeom>
          <a:solidFill>
            <a:srgbClr val="F7DF1E">
              <a:alpha val="8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Text 37">
            <a:extLst>
              <a:ext uri="{FF2B5EF4-FFF2-40B4-BE49-F238E27FC236}">
                <a16:creationId xmlns:a16="http://schemas.microsoft.com/office/drawing/2014/main" id="{3D872F81-3212-513F-E999-BF252BF41068}"/>
              </a:ext>
            </a:extLst>
          </p:cNvPr>
          <p:cNvSpPr/>
          <p:nvPr/>
        </p:nvSpPr>
        <p:spPr>
          <a:xfrm>
            <a:off x="3410712" y="576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86" name="Shape 38">
            <a:extLst>
              <a:ext uri="{FF2B5EF4-FFF2-40B4-BE49-F238E27FC236}">
                <a16:creationId xmlns:a16="http://schemas.microsoft.com/office/drawing/2014/main" id="{C4A682A1-2C6F-2299-7427-121C66E7281F}"/>
              </a:ext>
            </a:extLst>
          </p:cNvPr>
          <p:cNvSpPr/>
          <p:nvPr/>
        </p:nvSpPr>
        <p:spPr>
          <a:xfrm>
            <a:off x="3319272" y="98755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Shape 39">
            <a:extLst>
              <a:ext uri="{FF2B5EF4-FFF2-40B4-BE49-F238E27FC236}">
                <a16:creationId xmlns:a16="http://schemas.microsoft.com/office/drawing/2014/main" id="{62D6966F-E12E-1217-7739-6B98677CBAC0}"/>
              </a:ext>
            </a:extLst>
          </p:cNvPr>
          <p:cNvSpPr/>
          <p:nvPr/>
        </p:nvSpPr>
        <p:spPr>
          <a:xfrm>
            <a:off x="3319272" y="987552"/>
            <a:ext cx="54864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Shape 40">
            <a:extLst>
              <a:ext uri="{FF2B5EF4-FFF2-40B4-BE49-F238E27FC236}">
                <a16:creationId xmlns:a16="http://schemas.microsoft.com/office/drawing/2014/main" id="{96B17212-7C85-68A8-F4BA-7BCAB76F2292}"/>
              </a:ext>
            </a:extLst>
          </p:cNvPr>
          <p:cNvSpPr/>
          <p:nvPr/>
        </p:nvSpPr>
        <p:spPr>
          <a:xfrm>
            <a:off x="3410712" y="1060704"/>
            <a:ext cx="201168" cy="201168"/>
          </a:xfrm>
          <a:prstGeom prst="rect">
            <a:avLst/>
          </a:prstGeom>
          <a:solidFill>
            <a:srgbClr val="F7DF1E">
              <a:alpha val="7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Text 41">
            <a:extLst>
              <a:ext uri="{FF2B5EF4-FFF2-40B4-BE49-F238E27FC236}">
                <a16:creationId xmlns:a16="http://schemas.microsoft.com/office/drawing/2014/main" id="{B7326E04-519A-8C6F-4304-38356A27328B}"/>
              </a:ext>
            </a:extLst>
          </p:cNvPr>
          <p:cNvSpPr/>
          <p:nvPr/>
        </p:nvSpPr>
        <p:spPr>
          <a:xfrm>
            <a:off x="3410712" y="1060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90" name="Text 42">
            <a:extLst>
              <a:ext uri="{FF2B5EF4-FFF2-40B4-BE49-F238E27FC236}">
                <a16:creationId xmlns:a16="http://schemas.microsoft.com/office/drawing/2014/main" id="{29B99234-BDBF-2C61-AFD9-5E068F2708F6}"/>
              </a:ext>
            </a:extLst>
          </p:cNvPr>
          <p:cNvSpPr/>
          <p:nvPr/>
        </p:nvSpPr>
        <p:spPr>
          <a:xfrm>
            <a:off x="3666744" y="1033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Customer Form with city, location, vehicle details and add buttons for check, book, pay, and cancel with a message box and back link</a:t>
            </a:r>
            <a:endParaRPr lang="en-US" sz="700" dirty="0"/>
          </a:p>
        </p:txBody>
      </p:sp>
      <p:sp>
        <p:nvSpPr>
          <p:cNvPr id="191" name="Shape 43">
            <a:extLst>
              <a:ext uri="{FF2B5EF4-FFF2-40B4-BE49-F238E27FC236}">
                <a16:creationId xmlns:a16="http://schemas.microsoft.com/office/drawing/2014/main" id="{C5BB1FAB-C8AB-92C6-145E-DF2F7B031A00}"/>
              </a:ext>
            </a:extLst>
          </p:cNvPr>
          <p:cNvSpPr/>
          <p:nvPr/>
        </p:nvSpPr>
        <p:spPr>
          <a:xfrm>
            <a:off x="3319272" y="158191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Shape 44">
            <a:extLst>
              <a:ext uri="{FF2B5EF4-FFF2-40B4-BE49-F238E27FC236}">
                <a16:creationId xmlns:a16="http://schemas.microsoft.com/office/drawing/2014/main" id="{9E67708A-7FAD-1D72-9036-2C59788A4D88}"/>
              </a:ext>
            </a:extLst>
          </p:cNvPr>
          <p:cNvSpPr/>
          <p:nvPr/>
        </p:nvSpPr>
        <p:spPr>
          <a:xfrm>
            <a:off x="3319272" y="1581912"/>
            <a:ext cx="54864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Shape 45">
            <a:extLst>
              <a:ext uri="{FF2B5EF4-FFF2-40B4-BE49-F238E27FC236}">
                <a16:creationId xmlns:a16="http://schemas.microsoft.com/office/drawing/2014/main" id="{6CF1AB35-087B-5611-77BC-EA3DA4E02998}"/>
              </a:ext>
            </a:extLst>
          </p:cNvPr>
          <p:cNvSpPr/>
          <p:nvPr/>
        </p:nvSpPr>
        <p:spPr>
          <a:xfrm>
            <a:off x="3410712" y="1655064"/>
            <a:ext cx="201168" cy="201168"/>
          </a:xfrm>
          <a:prstGeom prst="rect">
            <a:avLst/>
          </a:prstGeom>
          <a:solidFill>
            <a:srgbClr val="F7DF1E">
              <a:alpha val="7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46">
            <a:extLst>
              <a:ext uri="{FF2B5EF4-FFF2-40B4-BE49-F238E27FC236}">
                <a16:creationId xmlns:a16="http://schemas.microsoft.com/office/drawing/2014/main" id="{842F223A-932C-444B-54B4-55A88229F0BD}"/>
              </a:ext>
            </a:extLst>
          </p:cNvPr>
          <p:cNvSpPr/>
          <p:nvPr/>
        </p:nvSpPr>
        <p:spPr>
          <a:xfrm>
            <a:off x="3410712" y="1655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95" name="Text 47">
            <a:extLst>
              <a:ext uri="{FF2B5EF4-FFF2-40B4-BE49-F238E27FC236}">
                <a16:creationId xmlns:a16="http://schemas.microsoft.com/office/drawing/2014/main" id="{73B88919-BDA0-B050-6000-48E317CBEEC6}"/>
              </a:ext>
            </a:extLst>
          </p:cNvPr>
          <p:cNvSpPr/>
          <p:nvPr/>
        </p:nvSpPr>
        <p:spPr>
          <a:xfrm>
            <a:off x="3666744" y="1627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Admin Login with tabs (Main/Admin), input fields, password option and login button</a:t>
            </a:r>
            <a:endParaRPr lang="en-US" sz="700" dirty="0"/>
          </a:p>
        </p:txBody>
      </p:sp>
      <p:sp>
        <p:nvSpPr>
          <p:cNvPr id="196" name="Shape 48">
            <a:extLst>
              <a:ext uri="{FF2B5EF4-FFF2-40B4-BE49-F238E27FC236}">
                <a16:creationId xmlns:a16="http://schemas.microsoft.com/office/drawing/2014/main" id="{800DE3F9-8B71-A7DE-96AA-1ECA945DB5E5}"/>
              </a:ext>
            </a:extLst>
          </p:cNvPr>
          <p:cNvSpPr/>
          <p:nvPr/>
        </p:nvSpPr>
        <p:spPr>
          <a:xfrm>
            <a:off x="3319272" y="217627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7" name="Shape 49">
            <a:extLst>
              <a:ext uri="{FF2B5EF4-FFF2-40B4-BE49-F238E27FC236}">
                <a16:creationId xmlns:a16="http://schemas.microsoft.com/office/drawing/2014/main" id="{A4603D66-A4D5-FF95-5AB2-7A19B6478C9C}"/>
              </a:ext>
            </a:extLst>
          </p:cNvPr>
          <p:cNvSpPr/>
          <p:nvPr/>
        </p:nvSpPr>
        <p:spPr>
          <a:xfrm>
            <a:off x="3319272" y="2176272"/>
            <a:ext cx="54864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Shape 50">
            <a:extLst>
              <a:ext uri="{FF2B5EF4-FFF2-40B4-BE49-F238E27FC236}">
                <a16:creationId xmlns:a16="http://schemas.microsoft.com/office/drawing/2014/main" id="{DB603AFE-E93B-57EE-0263-ABD13C3BE298}"/>
              </a:ext>
            </a:extLst>
          </p:cNvPr>
          <p:cNvSpPr/>
          <p:nvPr/>
        </p:nvSpPr>
        <p:spPr>
          <a:xfrm>
            <a:off x="3410712" y="2249424"/>
            <a:ext cx="201168" cy="201168"/>
          </a:xfrm>
          <a:prstGeom prst="rect">
            <a:avLst/>
          </a:prstGeom>
          <a:solidFill>
            <a:srgbClr val="F7DF1E">
              <a:alpha val="7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51">
            <a:extLst>
              <a:ext uri="{FF2B5EF4-FFF2-40B4-BE49-F238E27FC236}">
                <a16:creationId xmlns:a16="http://schemas.microsoft.com/office/drawing/2014/main" id="{C24F4FCC-5D33-0A04-1941-766760FB4FF7}"/>
              </a:ext>
            </a:extLst>
          </p:cNvPr>
          <p:cNvSpPr/>
          <p:nvPr/>
        </p:nvSpPr>
        <p:spPr>
          <a:xfrm>
            <a:off x="3410712" y="22494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00" name="Text 52">
            <a:extLst>
              <a:ext uri="{FF2B5EF4-FFF2-40B4-BE49-F238E27FC236}">
                <a16:creationId xmlns:a16="http://schemas.microsoft.com/office/drawing/2014/main" id="{5F4824AA-E354-A092-BDB9-7A2AEF0438D5}"/>
              </a:ext>
            </a:extLst>
          </p:cNvPr>
          <p:cNvSpPr/>
          <p:nvPr/>
        </p:nvSpPr>
        <p:spPr>
          <a:xfrm>
            <a:off x="3666744" y="22219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Main Dashboard with stats cards, slot grid, search bar and bookings table</a:t>
            </a:r>
            <a:endParaRPr lang="en-US" sz="700" dirty="0"/>
          </a:p>
        </p:txBody>
      </p:sp>
      <p:sp>
        <p:nvSpPr>
          <p:cNvPr id="201" name="Shape 53">
            <a:extLst>
              <a:ext uri="{FF2B5EF4-FFF2-40B4-BE49-F238E27FC236}">
                <a16:creationId xmlns:a16="http://schemas.microsoft.com/office/drawing/2014/main" id="{D660E2A1-FCAE-BD6C-C2AC-F4EF2FD47046}"/>
              </a:ext>
            </a:extLst>
          </p:cNvPr>
          <p:cNvSpPr/>
          <p:nvPr/>
        </p:nvSpPr>
        <p:spPr>
          <a:xfrm>
            <a:off x="3319272" y="277063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Shape 54">
            <a:extLst>
              <a:ext uri="{FF2B5EF4-FFF2-40B4-BE49-F238E27FC236}">
                <a16:creationId xmlns:a16="http://schemas.microsoft.com/office/drawing/2014/main" id="{D7F42B90-4247-281F-787C-3F320D6CBB57}"/>
              </a:ext>
            </a:extLst>
          </p:cNvPr>
          <p:cNvSpPr/>
          <p:nvPr/>
        </p:nvSpPr>
        <p:spPr>
          <a:xfrm>
            <a:off x="3319272" y="2770632"/>
            <a:ext cx="54864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Shape 55">
            <a:extLst>
              <a:ext uri="{FF2B5EF4-FFF2-40B4-BE49-F238E27FC236}">
                <a16:creationId xmlns:a16="http://schemas.microsoft.com/office/drawing/2014/main" id="{AB632FFD-F100-6E68-1B15-58984659B188}"/>
              </a:ext>
            </a:extLst>
          </p:cNvPr>
          <p:cNvSpPr/>
          <p:nvPr/>
        </p:nvSpPr>
        <p:spPr>
          <a:xfrm>
            <a:off x="3410712" y="2843784"/>
            <a:ext cx="201168" cy="201168"/>
          </a:xfrm>
          <a:prstGeom prst="rect">
            <a:avLst/>
          </a:prstGeom>
          <a:solidFill>
            <a:srgbClr val="F7DF1E">
              <a:alpha val="7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Text 56">
            <a:extLst>
              <a:ext uri="{FF2B5EF4-FFF2-40B4-BE49-F238E27FC236}">
                <a16:creationId xmlns:a16="http://schemas.microsoft.com/office/drawing/2014/main" id="{2F91C3C0-7B4E-7939-2DAA-16BF4E7C5778}"/>
              </a:ext>
            </a:extLst>
          </p:cNvPr>
          <p:cNvSpPr/>
          <p:nvPr/>
        </p:nvSpPr>
        <p:spPr>
          <a:xfrm>
            <a:off x="3410712" y="2843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05" name="Text 57">
            <a:extLst>
              <a:ext uri="{FF2B5EF4-FFF2-40B4-BE49-F238E27FC236}">
                <a16:creationId xmlns:a16="http://schemas.microsoft.com/office/drawing/2014/main" id="{1E01104E-3B4C-1A57-2C79-D032D5F0A601}"/>
              </a:ext>
            </a:extLst>
          </p:cNvPr>
          <p:cNvSpPr/>
          <p:nvPr/>
        </p:nvSpPr>
        <p:spPr>
          <a:xfrm>
            <a:off x="3666744" y="2816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Location Dashboard with stats, slot availability, search and location-based bookings table</a:t>
            </a:r>
            <a:endParaRPr lang="en-US" sz="700" dirty="0"/>
          </a:p>
        </p:txBody>
      </p:sp>
      <p:sp>
        <p:nvSpPr>
          <p:cNvPr id="206" name="Shape 58">
            <a:extLst>
              <a:ext uri="{FF2B5EF4-FFF2-40B4-BE49-F238E27FC236}">
                <a16:creationId xmlns:a16="http://schemas.microsoft.com/office/drawing/2014/main" id="{313EBDD6-1660-2469-B82F-05B6B5C152E2}"/>
              </a:ext>
            </a:extLst>
          </p:cNvPr>
          <p:cNvSpPr/>
          <p:nvPr/>
        </p:nvSpPr>
        <p:spPr>
          <a:xfrm>
            <a:off x="3319272" y="336499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Shape 59">
            <a:extLst>
              <a:ext uri="{FF2B5EF4-FFF2-40B4-BE49-F238E27FC236}">
                <a16:creationId xmlns:a16="http://schemas.microsoft.com/office/drawing/2014/main" id="{1D5ABCC7-E79D-ADDB-D0A1-9966B6FB4420}"/>
              </a:ext>
            </a:extLst>
          </p:cNvPr>
          <p:cNvSpPr/>
          <p:nvPr/>
        </p:nvSpPr>
        <p:spPr>
          <a:xfrm>
            <a:off x="3319272" y="3364992"/>
            <a:ext cx="54864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Shape 60">
            <a:extLst>
              <a:ext uri="{FF2B5EF4-FFF2-40B4-BE49-F238E27FC236}">
                <a16:creationId xmlns:a16="http://schemas.microsoft.com/office/drawing/2014/main" id="{4EB6D4B7-7392-21DE-0800-94CA3ACFA648}"/>
              </a:ext>
            </a:extLst>
          </p:cNvPr>
          <p:cNvSpPr/>
          <p:nvPr/>
        </p:nvSpPr>
        <p:spPr>
          <a:xfrm>
            <a:off x="3410712" y="3438144"/>
            <a:ext cx="201168" cy="201168"/>
          </a:xfrm>
          <a:prstGeom prst="rect">
            <a:avLst/>
          </a:prstGeom>
          <a:solidFill>
            <a:srgbClr val="F7DF1E">
              <a:alpha val="7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Text 61">
            <a:extLst>
              <a:ext uri="{FF2B5EF4-FFF2-40B4-BE49-F238E27FC236}">
                <a16:creationId xmlns:a16="http://schemas.microsoft.com/office/drawing/2014/main" id="{7980B24F-FA81-E70A-778B-07CC8A2C9C2B}"/>
              </a:ext>
            </a:extLst>
          </p:cNvPr>
          <p:cNvSpPr/>
          <p:nvPr/>
        </p:nvSpPr>
        <p:spPr>
          <a:xfrm>
            <a:off x="3410712" y="3438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10" name="Text 62">
            <a:extLst>
              <a:ext uri="{FF2B5EF4-FFF2-40B4-BE49-F238E27FC236}">
                <a16:creationId xmlns:a16="http://schemas.microsoft.com/office/drawing/2014/main" id="{28472F9E-A076-7C2C-28A4-889B175DB8DA}"/>
              </a:ext>
            </a:extLst>
          </p:cNvPr>
          <p:cNvSpPr/>
          <p:nvPr/>
        </p:nvSpPr>
        <p:spPr>
          <a:xfrm>
            <a:off x="3666744" y="3410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 Modal popup showing booking details with options to download, pay or close</a:t>
            </a:r>
            <a:endParaRPr lang="en-US" sz="700" dirty="0"/>
          </a:p>
        </p:txBody>
      </p:sp>
      <p:sp>
        <p:nvSpPr>
          <p:cNvPr id="211" name="Shape 63">
            <a:extLst>
              <a:ext uri="{FF2B5EF4-FFF2-40B4-BE49-F238E27FC236}">
                <a16:creationId xmlns:a16="http://schemas.microsoft.com/office/drawing/2014/main" id="{A9D73D80-43B8-0210-4640-14016029A058}"/>
              </a:ext>
            </a:extLst>
          </p:cNvPr>
          <p:cNvSpPr/>
          <p:nvPr/>
        </p:nvSpPr>
        <p:spPr>
          <a:xfrm>
            <a:off x="3319272" y="395935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2" name="Shape 64">
            <a:extLst>
              <a:ext uri="{FF2B5EF4-FFF2-40B4-BE49-F238E27FC236}">
                <a16:creationId xmlns:a16="http://schemas.microsoft.com/office/drawing/2014/main" id="{717E1D16-1D3F-0444-B795-474B4E42DFD9}"/>
              </a:ext>
            </a:extLst>
          </p:cNvPr>
          <p:cNvSpPr/>
          <p:nvPr/>
        </p:nvSpPr>
        <p:spPr>
          <a:xfrm>
            <a:off x="3319272" y="3959352"/>
            <a:ext cx="54864" cy="530352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3" name="Shape 65">
            <a:extLst>
              <a:ext uri="{FF2B5EF4-FFF2-40B4-BE49-F238E27FC236}">
                <a16:creationId xmlns:a16="http://schemas.microsoft.com/office/drawing/2014/main" id="{26AB3026-2119-E733-C28B-8EAF48FE0253}"/>
              </a:ext>
            </a:extLst>
          </p:cNvPr>
          <p:cNvSpPr/>
          <p:nvPr/>
        </p:nvSpPr>
        <p:spPr>
          <a:xfrm>
            <a:off x="3410712" y="4032504"/>
            <a:ext cx="201168" cy="201168"/>
          </a:xfrm>
          <a:prstGeom prst="rect">
            <a:avLst/>
          </a:prstGeom>
          <a:solidFill>
            <a:srgbClr val="F7DF1E">
              <a:alpha val="7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Text 66">
            <a:extLst>
              <a:ext uri="{FF2B5EF4-FFF2-40B4-BE49-F238E27FC236}">
                <a16:creationId xmlns:a16="http://schemas.microsoft.com/office/drawing/2014/main" id="{24E43537-BDA5-DC7D-20EC-B198C97721ED}"/>
              </a:ext>
            </a:extLst>
          </p:cNvPr>
          <p:cNvSpPr/>
          <p:nvPr/>
        </p:nvSpPr>
        <p:spPr>
          <a:xfrm>
            <a:off x="3410712" y="40325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215" name="Text 67">
            <a:extLst>
              <a:ext uri="{FF2B5EF4-FFF2-40B4-BE49-F238E27FC236}">
                <a16:creationId xmlns:a16="http://schemas.microsoft.com/office/drawing/2014/main" id="{3E5B6C90-553B-1BCD-FC52-A828BB20A545}"/>
              </a:ext>
            </a:extLst>
          </p:cNvPr>
          <p:cNvSpPr/>
          <p:nvPr/>
        </p:nvSpPr>
        <p:spPr>
          <a:xfrm>
            <a:off x="3666744" y="40050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Pay And Cancel Modals with booking ID input, hours entry and action buttons</a:t>
            </a:r>
            <a:endParaRPr lang="en-US" sz="700" dirty="0"/>
          </a:p>
        </p:txBody>
      </p:sp>
      <p:sp>
        <p:nvSpPr>
          <p:cNvPr id="216" name="Shape 68">
            <a:extLst>
              <a:ext uri="{FF2B5EF4-FFF2-40B4-BE49-F238E27FC236}">
                <a16:creationId xmlns:a16="http://schemas.microsoft.com/office/drawing/2014/main" id="{F28AAEB4-391D-B564-945F-0C5CC7214983}"/>
              </a:ext>
            </a:extLst>
          </p:cNvPr>
          <p:cNvSpPr/>
          <p:nvPr/>
        </p:nvSpPr>
        <p:spPr>
          <a:xfrm>
            <a:off x="6227064" y="576072"/>
            <a:ext cx="2743200" cy="320040"/>
          </a:xfrm>
          <a:prstGeom prst="rect">
            <a:avLst/>
          </a:prstGeom>
          <a:solidFill>
            <a:srgbClr val="1572B6">
              <a:alpha val="80000"/>
            </a:srgbClr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7" name="Text 69">
            <a:extLst>
              <a:ext uri="{FF2B5EF4-FFF2-40B4-BE49-F238E27FC236}">
                <a16:creationId xmlns:a16="http://schemas.microsoft.com/office/drawing/2014/main" id="{6FD2E871-5E74-9A87-7F58-9FC740E0A507}"/>
              </a:ext>
            </a:extLst>
          </p:cNvPr>
          <p:cNvSpPr/>
          <p:nvPr/>
        </p:nvSpPr>
        <p:spPr>
          <a:xfrm>
            <a:off x="6318504" y="576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218" name="Shape 70">
            <a:extLst>
              <a:ext uri="{FF2B5EF4-FFF2-40B4-BE49-F238E27FC236}">
                <a16:creationId xmlns:a16="http://schemas.microsoft.com/office/drawing/2014/main" id="{6FFD58EB-9869-6DAE-25A1-5C8A6E3D722F}"/>
              </a:ext>
            </a:extLst>
          </p:cNvPr>
          <p:cNvSpPr/>
          <p:nvPr/>
        </p:nvSpPr>
        <p:spPr>
          <a:xfrm>
            <a:off x="6227064" y="98755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Shape 71">
            <a:extLst>
              <a:ext uri="{FF2B5EF4-FFF2-40B4-BE49-F238E27FC236}">
                <a16:creationId xmlns:a16="http://schemas.microsoft.com/office/drawing/2014/main" id="{961329C9-5BC4-AB82-4AA8-09FA9392E9E3}"/>
              </a:ext>
            </a:extLst>
          </p:cNvPr>
          <p:cNvSpPr/>
          <p:nvPr/>
        </p:nvSpPr>
        <p:spPr>
          <a:xfrm>
            <a:off x="6227064" y="987552"/>
            <a:ext cx="54864" cy="530352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Shape 72">
            <a:extLst>
              <a:ext uri="{FF2B5EF4-FFF2-40B4-BE49-F238E27FC236}">
                <a16:creationId xmlns:a16="http://schemas.microsoft.com/office/drawing/2014/main" id="{E6F121D4-46A4-3E13-2BF9-B9F9C10B2CFC}"/>
              </a:ext>
            </a:extLst>
          </p:cNvPr>
          <p:cNvSpPr/>
          <p:nvPr/>
        </p:nvSpPr>
        <p:spPr>
          <a:xfrm>
            <a:off x="6318504" y="1060704"/>
            <a:ext cx="201168" cy="201168"/>
          </a:xfrm>
          <a:prstGeom prst="rect">
            <a:avLst/>
          </a:prstGeom>
          <a:solidFill>
            <a:srgbClr val="1572B6">
              <a:alpha val="70000"/>
            </a:srgbClr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Text 73">
            <a:extLst>
              <a:ext uri="{FF2B5EF4-FFF2-40B4-BE49-F238E27FC236}">
                <a16:creationId xmlns:a16="http://schemas.microsoft.com/office/drawing/2014/main" id="{C3030E58-9E24-E8AB-CF0F-5CA1DD6902F0}"/>
              </a:ext>
            </a:extLst>
          </p:cNvPr>
          <p:cNvSpPr/>
          <p:nvPr/>
        </p:nvSpPr>
        <p:spPr>
          <a:xfrm>
            <a:off x="6318504" y="1060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22" name="Text 74">
            <a:extLst>
              <a:ext uri="{FF2B5EF4-FFF2-40B4-BE49-F238E27FC236}">
                <a16:creationId xmlns:a16="http://schemas.microsoft.com/office/drawing/2014/main" id="{D0695770-64C7-A4C9-42D6-98D07CFEDD69}"/>
              </a:ext>
            </a:extLst>
          </p:cNvPr>
          <p:cNvSpPr/>
          <p:nvPr/>
        </p:nvSpPr>
        <p:spPr>
          <a:xfrm>
            <a:off x="6574536" y="1033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CSS Variables in :root for colors, border, radius and apply global reset with box-sizing, Poppins font, dark background</a:t>
            </a:r>
            <a:endParaRPr lang="en-US" sz="700" dirty="0"/>
          </a:p>
        </p:txBody>
      </p:sp>
      <p:sp>
        <p:nvSpPr>
          <p:cNvPr id="223" name="Shape 75">
            <a:extLst>
              <a:ext uri="{FF2B5EF4-FFF2-40B4-BE49-F238E27FC236}">
                <a16:creationId xmlns:a16="http://schemas.microsoft.com/office/drawing/2014/main" id="{B6CCE18B-B44D-9AAC-EFA6-B0A7DC353BD1}"/>
              </a:ext>
            </a:extLst>
          </p:cNvPr>
          <p:cNvSpPr/>
          <p:nvPr/>
        </p:nvSpPr>
        <p:spPr>
          <a:xfrm>
            <a:off x="6227064" y="158191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Shape 76">
            <a:extLst>
              <a:ext uri="{FF2B5EF4-FFF2-40B4-BE49-F238E27FC236}">
                <a16:creationId xmlns:a16="http://schemas.microsoft.com/office/drawing/2014/main" id="{4053C482-DC70-F45D-0F2D-F06B4390DBAC}"/>
              </a:ext>
            </a:extLst>
          </p:cNvPr>
          <p:cNvSpPr/>
          <p:nvPr/>
        </p:nvSpPr>
        <p:spPr>
          <a:xfrm>
            <a:off x="6227064" y="1581912"/>
            <a:ext cx="54864" cy="530352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Shape 77">
            <a:extLst>
              <a:ext uri="{FF2B5EF4-FFF2-40B4-BE49-F238E27FC236}">
                <a16:creationId xmlns:a16="http://schemas.microsoft.com/office/drawing/2014/main" id="{515EE295-44CF-7C36-232B-07AE62C81B19}"/>
              </a:ext>
            </a:extLst>
          </p:cNvPr>
          <p:cNvSpPr/>
          <p:nvPr/>
        </p:nvSpPr>
        <p:spPr>
          <a:xfrm>
            <a:off x="6318504" y="1655064"/>
            <a:ext cx="201168" cy="201168"/>
          </a:xfrm>
          <a:prstGeom prst="rect">
            <a:avLst/>
          </a:prstGeom>
          <a:solidFill>
            <a:srgbClr val="1572B6">
              <a:alpha val="70000"/>
            </a:srgbClr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6" name="Text 78">
            <a:extLst>
              <a:ext uri="{FF2B5EF4-FFF2-40B4-BE49-F238E27FC236}">
                <a16:creationId xmlns:a16="http://schemas.microsoft.com/office/drawing/2014/main" id="{7E8D67F6-E8CB-CED2-1FB7-A27BCE6FDBF5}"/>
              </a:ext>
            </a:extLst>
          </p:cNvPr>
          <p:cNvSpPr/>
          <p:nvPr/>
        </p:nvSpPr>
        <p:spPr>
          <a:xfrm>
            <a:off x="6318504" y="1655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27" name="Text 79">
            <a:extLst>
              <a:ext uri="{FF2B5EF4-FFF2-40B4-BE49-F238E27FC236}">
                <a16:creationId xmlns:a16="http://schemas.microsoft.com/office/drawing/2014/main" id="{57AFFB33-C47A-E287-0C73-D92216243AD1}"/>
              </a:ext>
            </a:extLst>
          </p:cNvPr>
          <p:cNvSpPr/>
          <p:nvPr/>
        </p:nvSpPr>
        <p:spPr>
          <a:xfrm>
            <a:off x="6574536" y="1627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Background with gradient overlay and parking image, add animated glow orbs using keyframes for smooth floating effect</a:t>
            </a:r>
            <a:endParaRPr lang="en-US" sz="700" dirty="0"/>
          </a:p>
        </p:txBody>
      </p:sp>
      <p:sp>
        <p:nvSpPr>
          <p:cNvPr id="228" name="Shape 80">
            <a:extLst>
              <a:ext uri="{FF2B5EF4-FFF2-40B4-BE49-F238E27FC236}">
                <a16:creationId xmlns:a16="http://schemas.microsoft.com/office/drawing/2014/main" id="{BAB8F3F6-5F43-8353-FA68-25018E367A8E}"/>
              </a:ext>
            </a:extLst>
          </p:cNvPr>
          <p:cNvSpPr/>
          <p:nvPr/>
        </p:nvSpPr>
        <p:spPr>
          <a:xfrm>
            <a:off x="6227064" y="217627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Shape 81">
            <a:extLst>
              <a:ext uri="{FF2B5EF4-FFF2-40B4-BE49-F238E27FC236}">
                <a16:creationId xmlns:a16="http://schemas.microsoft.com/office/drawing/2014/main" id="{65C2A0AA-0EA0-A22D-76F1-51977383B095}"/>
              </a:ext>
            </a:extLst>
          </p:cNvPr>
          <p:cNvSpPr/>
          <p:nvPr/>
        </p:nvSpPr>
        <p:spPr>
          <a:xfrm>
            <a:off x="6227064" y="2176272"/>
            <a:ext cx="54864" cy="530352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0" name="Shape 82">
            <a:extLst>
              <a:ext uri="{FF2B5EF4-FFF2-40B4-BE49-F238E27FC236}">
                <a16:creationId xmlns:a16="http://schemas.microsoft.com/office/drawing/2014/main" id="{31990ACB-1FA2-42B7-6CF7-2A65FF6CED87}"/>
              </a:ext>
            </a:extLst>
          </p:cNvPr>
          <p:cNvSpPr/>
          <p:nvPr/>
        </p:nvSpPr>
        <p:spPr>
          <a:xfrm>
            <a:off x="6318504" y="2249424"/>
            <a:ext cx="201168" cy="201168"/>
          </a:xfrm>
          <a:prstGeom prst="rect">
            <a:avLst/>
          </a:prstGeom>
          <a:solidFill>
            <a:srgbClr val="1572B6">
              <a:alpha val="70000"/>
            </a:srgbClr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Text 83">
            <a:extLst>
              <a:ext uri="{FF2B5EF4-FFF2-40B4-BE49-F238E27FC236}">
                <a16:creationId xmlns:a16="http://schemas.microsoft.com/office/drawing/2014/main" id="{F4A80F90-007B-C801-F4C9-74F554A79513}"/>
              </a:ext>
            </a:extLst>
          </p:cNvPr>
          <p:cNvSpPr/>
          <p:nvPr/>
        </p:nvSpPr>
        <p:spPr>
          <a:xfrm>
            <a:off x="6318504" y="22494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32" name="Text 84">
            <a:extLst>
              <a:ext uri="{FF2B5EF4-FFF2-40B4-BE49-F238E27FC236}">
                <a16:creationId xmlns:a16="http://schemas.microsoft.com/office/drawing/2014/main" id="{7AE6E71E-04D2-49B3-59E3-F8C9E14533FD}"/>
              </a:ext>
            </a:extLst>
          </p:cNvPr>
          <p:cNvSpPr/>
          <p:nvPr/>
        </p:nvSpPr>
        <p:spPr>
          <a:xfrm>
            <a:off x="6574536" y="22219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Feature Cards using glassmorphism, hover lift effect and proper spacing for icon, title and description</a:t>
            </a:r>
            <a:endParaRPr lang="en-US" sz="700" dirty="0"/>
          </a:p>
        </p:txBody>
      </p:sp>
      <p:sp>
        <p:nvSpPr>
          <p:cNvPr id="233" name="Shape 85">
            <a:extLst>
              <a:ext uri="{FF2B5EF4-FFF2-40B4-BE49-F238E27FC236}">
                <a16:creationId xmlns:a16="http://schemas.microsoft.com/office/drawing/2014/main" id="{5A2285ED-D7A4-F545-5A3A-F8EB4345493D}"/>
              </a:ext>
            </a:extLst>
          </p:cNvPr>
          <p:cNvSpPr/>
          <p:nvPr/>
        </p:nvSpPr>
        <p:spPr>
          <a:xfrm>
            <a:off x="6227064" y="277063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Shape 86">
            <a:extLst>
              <a:ext uri="{FF2B5EF4-FFF2-40B4-BE49-F238E27FC236}">
                <a16:creationId xmlns:a16="http://schemas.microsoft.com/office/drawing/2014/main" id="{DAAD2BE0-A741-0179-9907-4EE2E69E613C}"/>
              </a:ext>
            </a:extLst>
          </p:cNvPr>
          <p:cNvSpPr/>
          <p:nvPr/>
        </p:nvSpPr>
        <p:spPr>
          <a:xfrm>
            <a:off x="6227064" y="2770632"/>
            <a:ext cx="54864" cy="530352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Shape 87">
            <a:extLst>
              <a:ext uri="{FF2B5EF4-FFF2-40B4-BE49-F238E27FC236}">
                <a16:creationId xmlns:a16="http://schemas.microsoft.com/office/drawing/2014/main" id="{84F6E8A9-0B59-FA2E-8A06-86B0D6707AE3}"/>
              </a:ext>
            </a:extLst>
          </p:cNvPr>
          <p:cNvSpPr/>
          <p:nvPr/>
        </p:nvSpPr>
        <p:spPr>
          <a:xfrm>
            <a:off x="6318504" y="2843784"/>
            <a:ext cx="201168" cy="201168"/>
          </a:xfrm>
          <a:prstGeom prst="rect">
            <a:avLst/>
          </a:prstGeom>
          <a:solidFill>
            <a:srgbClr val="1572B6">
              <a:alpha val="70000"/>
            </a:srgbClr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6" name="Text 88">
            <a:extLst>
              <a:ext uri="{FF2B5EF4-FFF2-40B4-BE49-F238E27FC236}">
                <a16:creationId xmlns:a16="http://schemas.microsoft.com/office/drawing/2014/main" id="{DE7F181D-61DA-B8AF-1AEE-E6E729CF72B0}"/>
              </a:ext>
            </a:extLst>
          </p:cNvPr>
          <p:cNvSpPr/>
          <p:nvPr/>
        </p:nvSpPr>
        <p:spPr>
          <a:xfrm>
            <a:off x="6318504" y="2843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37" name="Text 89">
            <a:extLst>
              <a:ext uri="{FF2B5EF4-FFF2-40B4-BE49-F238E27FC236}">
                <a16:creationId xmlns:a16="http://schemas.microsoft.com/office/drawing/2014/main" id="{2503A001-D4E9-086E-5E84-29EB493989A6}"/>
              </a:ext>
            </a:extLst>
          </p:cNvPr>
          <p:cNvSpPr/>
          <p:nvPr/>
        </p:nvSpPr>
        <p:spPr>
          <a:xfrm>
            <a:off x="6574536" y="2816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Ticket Modal as overlay with centered card, booking details, header gradient and action buttons</a:t>
            </a:r>
            <a:endParaRPr lang="en-US" sz="700" dirty="0"/>
          </a:p>
        </p:txBody>
      </p:sp>
      <p:sp>
        <p:nvSpPr>
          <p:cNvPr id="238" name="Shape 90">
            <a:extLst>
              <a:ext uri="{FF2B5EF4-FFF2-40B4-BE49-F238E27FC236}">
                <a16:creationId xmlns:a16="http://schemas.microsoft.com/office/drawing/2014/main" id="{B118F148-672B-8054-1AF4-8CEC8CB95608}"/>
              </a:ext>
            </a:extLst>
          </p:cNvPr>
          <p:cNvSpPr/>
          <p:nvPr/>
        </p:nvSpPr>
        <p:spPr>
          <a:xfrm>
            <a:off x="6227064" y="336499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91">
            <a:extLst>
              <a:ext uri="{FF2B5EF4-FFF2-40B4-BE49-F238E27FC236}">
                <a16:creationId xmlns:a16="http://schemas.microsoft.com/office/drawing/2014/main" id="{FB55D923-C934-CDF0-88B1-E01ABBEE491D}"/>
              </a:ext>
            </a:extLst>
          </p:cNvPr>
          <p:cNvSpPr/>
          <p:nvPr/>
        </p:nvSpPr>
        <p:spPr>
          <a:xfrm>
            <a:off x="6227064" y="3364992"/>
            <a:ext cx="54864" cy="530352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" name="Shape 92">
            <a:extLst>
              <a:ext uri="{FF2B5EF4-FFF2-40B4-BE49-F238E27FC236}">
                <a16:creationId xmlns:a16="http://schemas.microsoft.com/office/drawing/2014/main" id="{4243A41D-4970-1C86-AC40-EC528627C08C}"/>
              </a:ext>
            </a:extLst>
          </p:cNvPr>
          <p:cNvSpPr/>
          <p:nvPr/>
        </p:nvSpPr>
        <p:spPr>
          <a:xfrm>
            <a:off x="6318504" y="3438144"/>
            <a:ext cx="201168" cy="201168"/>
          </a:xfrm>
          <a:prstGeom prst="rect">
            <a:avLst/>
          </a:prstGeom>
          <a:solidFill>
            <a:srgbClr val="1572B6">
              <a:alpha val="70000"/>
            </a:srgbClr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Text 93">
            <a:extLst>
              <a:ext uri="{FF2B5EF4-FFF2-40B4-BE49-F238E27FC236}">
                <a16:creationId xmlns:a16="http://schemas.microsoft.com/office/drawing/2014/main" id="{C6F47612-E438-6A2A-9762-77847FDEB3B5}"/>
              </a:ext>
            </a:extLst>
          </p:cNvPr>
          <p:cNvSpPr/>
          <p:nvPr/>
        </p:nvSpPr>
        <p:spPr>
          <a:xfrm>
            <a:off x="6318504" y="3438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42" name="Text 94">
            <a:extLst>
              <a:ext uri="{FF2B5EF4-FFF2-40B4-BE49-F238E27FC236}">
                <a16:creationId xmlns:a16="http://schemas.microsoft.com/office/drawing/2014/main" id="{B5932F21-1324-B2BD-8651-17A12F411A0A}"/>
              </a:ext>
            </a:extLst>
          </p:cNvPr>
          <p:cNvSpPr/>
          <p:nvPr/>
        </p:nvSpPr>
        <p:spPr>
          <a:xfrm>
            <a:off x="6574536" y="3410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Dashboard with responsive layout, stat cards, color indicators and section titles</a:t>
            </a:r>
            <a:endParaRPr lang="en-US" sz="700" dirty="0"/>
          </a:p>
        </p:txBody>
      </p:sp>
      <p:sp>
        <p:nvSpPr>
          <p:cNvPr id="243" name="Shape 95">
            <a:extLst>
              <a:ext uri="{FF2B5EF4-FFF2-40B4-BE49-F238E27FC236}">
                <a16:creationId xmlns:a16="http://schemas.microsoft.com/office/drawing/2014/main" id="{8E16CF6C-8DB0-5911-218F-17B157F02C64}"/>
              </a:ext>
            </a:extLst>
          </p:cNvPr>
          <p:cNvSpPr/>
          <p:nvPr/>
        </p:nvSpPr>
        <p:spPr>
          <a:xfrm>
            <a:off x="6227064" y="3959352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4" name="Shape 96">
            <a:extLst>
              <a:ext uri="{FF2B5EF4-FFF2-40B4-BE49-F238E27FC236}">
                <a16:creationId xmlns:a16="http://schemas.microsoft.com/office/drawing/2014/main" id="{5E67B5F3-0FC6-62B6-93FD-21613BF4C1B7}"/>
              </a:ext>
            </a:extLst>
          </p:cNvPr>
          <p:cNvSpPr/>
          <p:nvPr/>
        </p:nvSpPr>
        <p:spPr>
          <a:xfrm>
            <a:off x="6227064" y="3959352"/>
            <a:ext cx="54864" cy="530352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Shape 97">
            <a:extLst>
              <a:ext uri="{FF2B5EF4-FFF2-40B4-BE49-F238E27FC236}">
                <a16:creationId xmlns:a16="http://schemas.microsoft.com/office/drawing/2014/main" id="{A613580F-DFB7-F4A9-7D4C-7575C62F971C}"/>
              </a:ext>
            </a:extLst>
          </p:cNvPr>
          <p:cNvSpPr/>
          <p:nvPr/>
        </p:nvSpPr>
        <p:spPr>
          <a:xfrm>
            <a:off x="6318504" y="4032504"/>
            <a:ext cx="201168" cy="201168"/>
          </a:xfrm>
          <a:prstGeom prst="rect">
            <a:avLst/>
          </a:prstGeom>
          <a:solidFill>
            <a:srgbClr val="1572B6">
              <a:alpha val="70000"/>
            </a:srgbClr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6" name="Text 98">
            <a:extLst>
              <a:ext uri="{FF2B5EF4-FFF2-40B4-BE49-F238E27FC236}">
                <a16:creationId xmlns:a16="http://schemas.microsoft.com/office/drawing/2014/main" id="{E84BA524-3763-7177-2E39-C3A93CED0773}"/>
              </a:ext>
            </a:extLst>
          </p:cNvPr>
          <p:cNvSpPr/>
          <p:nvPr/>
        </p:nvSpPr>
        <p:spPr>
          <a:xfrm>
            <a:off x="6318504" y="40325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247" name="Text 99">
            <a:extLst>
              <a:ext uri="{FF2B5EF4-FFF2-40B4-BE49-F238E27FC236}">
                <a16:creationId xmlns:a16="http://schemas.microsoft.com/office/drawing/2014/main" id="{FB42FC81-DA25-3B1E-88DC-8FF03A1D2941}"/>
              </a:ext>
            </a:extLst>
          </p:cNvPr>
          <p:cNvSpPr/>
          <p:nvPr/>
        </p:nvSpPr>
        <p:spPr>
          <a:xfrm>
            <a:off x="6574536" y="40050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project by hiding sections, placing script at bottom, matching IDs and avoiding inline CSS</a:t>
            </a:r>
            <a:endParaRPr lang="en-US" sz="700" dirty="0"/>
          </a:p>
        </p:txBody>
      </p:sp>
      <p:sp>
        <p:nvSpPr>
          <p:cNvPr id="248" name="Shape 100">
            <a:extLst>
              <a:ext uri="{FF2B5EF4-FFF2-40B4-BE49-F238E27FC236}">
                <a16:creationId xmlns:a16="http://schemas.microsoft.com/office/drawing/2014/main" id="{AD01AF25-5445-0546-E821-CFA3FED26F49}"/>
              </a:ext>
            </a:extLst>
          </p:cNvPr>
          <p:cNvSpPr/>
          <p:nvPr/>
        </p:nvSpPr>
        <p:spPr>
          <a:xfrm>
            <a:off x="0" y="4718304"/>
            <a:ext cx="9144000" cy="3429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pPr algn="ctr"/>
            <a:r>
              <a:rPr lang="en-US" sz="1050">
                <a:solidFill>
                  <a:srgbClr val="94A3B8"/>
                </a:solidFill>
              </a:rPr>
              <a:t>ParkSmart Pro  ·  Smart Parking Solution</a:t>
            </a:r>
            <a:endParaRPr lang="en-US" sz="1050" dirty="0"/>
          </a:p>
        </p:txBody>
      </p:sp>
      <p:sp>
        <p:nvSpPr>
          <p:cNvPr id="252" name="Text 104">
            <a:extLst>
              <a:ext uri="{FF2B5EF4-FFF2-40B4-BE49-F238E27FC236}">
                <a16:creationId xmlns:a16="http://schemas.microsoft.com/office/drawing/2014/main" id="{D81BF97F-4491-9495-56D0-375C7150C132}"/>
              </a:ext>
            </a:extLst>
          </p:cNvPr>
          <p:cNvSpPr/>
          <p:nvPr/>
        </p:nvSpPr>
        <p:spPr>
          <a:xfrm>
            <a:off x="8046720" y="4736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87862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System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CUSTOMER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384048" cy="384048"/>
          </a:xfrm>
          <a:prstGeom prst="rect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14173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1. Visit ParkSmart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66544" y="1801368"/>
            <a:ext cx="0" cy="91440"/>
          </a:xfrm>
          <a:prstGeom prst="line">
            <a:avLst/>
          </a:prstGeom>
          <a:noFill/>
          <a:ln w="1905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92808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92808"/>
            <a:ext cx="384048" cy="384048"/>
          </a:xfrm>
          <a:prstGeom prst="rect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189280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2. Select City &amp; Location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66544" y="2276856"/>
            <a:ext cx="0" cy="91440"/>
          </a:xfrm>
          <a:prstGeom prst="line">
            <a:avLst/>
          </a:prstGeom>
          <a:noFill/>
          <a:ln w="1905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68296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68296"/>
            <a:ext cx="384048" cy="38404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236829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3. Check Availability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66544" y="2752344"/>
            <a:ext cx="0" cy="91440"/>
          </a:xfrm>
          <a:prstGeom prst="line">
            <a:avLst/>
          </a:prstGeom>
          <a:noFill/>
          <a:ln w="190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843784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43784"/>
            <a:ext cx="384048" cy="384048"/>
          </a:xfrm>
          <a:prstGeom prst="rect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" y="284378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4. Enter Vehicle Details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66544" y="3227832"/>
            <a:ext cx="0" cy="91440"/>
          </a:xfrm>
          <a:prstGeom prst="line">
            <a:avLst/>
          </a:prstGeom>
          <a:noFill/>
          <a:ln w="1905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319272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319272"/>
            <a:ext cx="384048" cy="38404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🎫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" y="33192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5. Book &amp; Get Ticket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66544" y="3703320"/>
            <a:ext cx="0" cy="91440"/>
          </a:xfrm>
          <a:prstGeom prst="line">
            <a:avLst/>
          </a:prstGeom>
          <a:noFill/>
          <a:ln w="190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794760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94760"/>
            <a:ext cx="384048" cy="38404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🅿️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9808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6. Park Vehicle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066544" y="4178808"/>
            <a:ext cx="0" cy="91440"/>
          </a:xfrm>
          <a:prstGeom prst="line">
            <a:avLst/>
          </a:prstGeom>
          <a:noFill/>
          <a:ln w="190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70248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270248"/>
            <a:ext cx="384048" cy="38404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9808" y="427024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7. Exit &amp; Pay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B5CF6"/>
                </a:solidFill>
              </a:rPr>
              <a:t>ADMIN FLOW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83480" y="1417320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83480" y="1417320"/>
            <a:ext cx="384048" cy="384048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40680" y="14173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1. Access Admin Login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66560" y="1801368"/>
            <a:ext cx="0" cy="91440"/>
          </a:xfrm>
          <a:prstGeom prst="line">
            <a:avLst/>
          </a:prstGeom>
          <a:noFill/>
          <a:ln w="1905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83480" y="1892808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983480" y="1892808"/>
            <a:ext cx="384048" cy="384048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40680" y="189280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2. Main Admin (madhu/madhu@123)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66560" y="2276856"/>
            <a:ext cx="0" cy="91440"/>
          </a:xfrm>
          <a:prstGeom prst="line">
            <a:avLst/>
          </a:prstGeom>
          <a:noFill/>
          <a:ln w="1905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83480" y="2368296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983480" y="2368296"/>
            <a:ext cx="384048" cy="384048"/>
          </a:xfrm>
          <a:prstGeom prst="rect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440680" y="236829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3. Location Admin (loc + 123)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766560" y="2752344"/>
            <a:ext cx="0" cy="91440"/>
          </a:xfrm>
          <a:prstGeom prst="line">
            <a:avLst/>
          </a:prstGeom>
          <a:noFill/>
          <a:ln w="1905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83480" y="2843784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983480" y="2843784"/>
            <a:ext cx="384048" cy="384048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8348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440680" y="284378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4. View Dashboard &amp; Stats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766560" y="3227832"/>
            <a:ext cx="0" cy="91440"/>
          </a:xfrm>
          <a:prstGeom prst="line">
            <a:avLst/>
          </a:prstGeom>
          <a:noFill/>
          <a:ln w="1905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83480" y="3319272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983480" y="3319272"/>
            <a:ext cx="384048" cy="384048"/>
          </a:xfrm>
          <a:prstGeom prst="rect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8348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🅿️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440680" y="33192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5. Monitor Slots &amp; Bookings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766560" y="3703320"/>
            <a:ext cx="0" cy="91440"/>
          </a:xfrm>
          <a:prstGeom prst="line">
            <a:avLst/>
          </a:prstGeom>
          <a:noFill/>
          <a:ln w="1905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83480" y="3794760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983480" y="3794760"/>
            <a:ext cx="384048" cy="38404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834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5440680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6. Search Vehicle Records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766560" y="4178808"/>
            <a:ext cx="0" cy="91440"/>
          </a:xfrm>
          <a:prstGeom prst="line">
            <a:avLst/>
          </a:prstGeom>
          <a:noFill/>
          <a:ln w="190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83480" y="4270248"/>
            <a:ext cx="37490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983480" y="4270248"/>
            <a:ext cx="384048" cy="38404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834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5440680" y="427024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7. Track Revenue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425696" y="1097280"/>
            <a:ext cx="0" cy="384048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ParkSmart Pro  ·  Smart Parking Solution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Front-End Application 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04314"/>
            <a:ext cx="5166360" cy="3611880"/>
          </a:xfrm>
          <a:prstGeom prst="rect">
            <a:avLst/>
          </a:prstGeom>
          <a:solidFill>
            <a:srgbClr val="0B1628"/>
          </a:solidFill>
          <a:ln w="12700">
            <a:solidFill>
              <a:srgbClr val="6366F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1663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6128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16128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16128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143000"/>
            <a:ext cx="3383280" cy="1737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14300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parksmart-pro.netlify.app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1389888"/>
            <a:ext cx="51663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🚗 ParkSmart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453896"/>
            <a:ext cx="64008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453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1828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Park Smarter, Not Harder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2128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Real-time slots · Instant booking · Smart exits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2542032"/>
            <a:ext cx="1078992" cy="201168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42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</a:rPr>
              <a:t>Hyderabad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691640" y="2542032"/>
            <a:ext cx="1078992" cy="201168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2542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</a:rPr>
              <a:t>Warangal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880360" y="2542032"/>
            <a:ext cx="1078992" cy="201168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2542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</a:rPr>
              <a:t>Karimnagar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069080" y="2542032"/>
            <a:ext cx="1078992" cy="201168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25420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</a:rPr>
              <a:t>Nizamabad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23317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834640"/>
            <a:ext cx="233172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07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👤 Customer Login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1821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Book &amp; pay for parking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17520" y="2834640"/>
            <a:ext cx="23317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17520" y="2834640"/>
            <a:ext cx="23317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2907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🛡️ Admin Login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08960" y="31821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Monitor all locations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703320"/>
            <a:ext cx="51663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</a:rPr>
              <a:t>20+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Locations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691640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1000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91640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Slots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926080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24/7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0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Uptime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160520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160520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Cities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715000" y="1115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KEY UI SCREENS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0" y="1444752"/>
            <a:ext cx="31546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69280" y="1444752"/>
            <a:ext cx="54864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97296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🏠 Landing Page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97296" y="17647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Hero section with city selection, stats bar, feature cards and mode selection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9280" y="2267712"/>
            <a:ext cx="31546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669280" y="2267712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97296" y="2322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Customer Booking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797296" y="2587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City → Location → Vehicle details → Book → Get instant digital ticket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69280" y="3090672"/>
            <a:ext cx="31546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669280" y="309067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97296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🎫 Digital Ticket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797296" y="3410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Booking ID, vehicle, location, date/time, rate and status shown on modal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669280" y="3913632"/>
            <a:ext cx="31546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669280" y="3913632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97296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Admin Dashboard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797296" y="42336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Live stats: total/active/paid/cancelled bookings, slot grid, revenue, search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ParkSmart Pro  ·  Smart Parking Solution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584D5-A3FD-68FF-38E4-444F29B0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2A2129-9D7D-A9C9-64FB-3C9AC197DFCB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FF8B69-84B3-9731-A767-877FDDF0D65A}"/>
              </a:ext>
            </a:extLst>
          </p:cNvPr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D0F3D6-F995-2C9B-B348-58CD96A816A9}"/>
              </a:ext>
            </a:extLst>
          </p:cNvPr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986EBC-A532-73F5-80AF-1DF6887F494B}"/>
              </a:ext>
            </a:extLst>
          </p:cNvPr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Proof of Prompts generating codes </a:t>
            </a:r>
            <a:endParaRPr lang="en-US" sz="2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585AA42-1683-BCF9-B395-4A3F75A6156F}"/>
              </a:ext>
            </a:extLst>
          </p:cNvPr>
          <p:cNvSpPr/>
          <p:nvPr/>
        </p:nvSpPr>
        <p:spPr>
          <a:xfrm>
            <a:off x="4572000" y="1453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EDAD7FA-E306-383D-8C33-457FD429E386}"/>
              </a:ext>
            </a:extLst>
          </p:cNvPr>
          <p:cNvSpPr/>
          <p:nvPr/>
        </p:nvSpPr>
        <p:spPr>
          <a:xfrm>
            <a:off x="4160520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8262B7A-5EBC-A5D5-F0C6-5CFB6FBC10E1}"/>
              </a:ext>
            </a:extLst>
          </p:cNvPr>
          <p:cNvSpPr/>
          <p:nvPr/>
        </p:nvSpPr>
        <p:spPr>
          <a:xfrm>
            <a:off x="5715000" y="1115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58EBF790-83E2-4D87-F3F1-0EFA4BF88392}"/>
              </a:ext>
            </a:extLst>
          </p:cNvPr>
          <p:cNvSpPr/>
          <p:nvPr/>
        </p:nvSpPr>
        <p:spPr>
          <a:xfrm>
            <a:off x="5797296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720EF8F-F501-2803-320C-282577AA4D1B}"/>
              </a:ext>
            </a:extLst>
          </p:cNvPr>
          <p:cNvSpPr/>
          <p:nvPr/>
        </p:nvSpPr>
        <p:spPr>
          <a:xfrm>
            <a:off x="5797296" y="2322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A3F1B6B-7F16-FB13-2C68-6704E3927159}"/>
              </a:ext>
            </a:extLst>
          </p:cNvPr>
          <p:cNvSpPr/>
          <p:nvPr/>
        </p:nvSpPr>
        <p:spPr>
          <a:xfrm>
            <a:off x="5797296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72C52062-0D5B-20DB-0492-222441E079FB}"/>
              </a:ext>
            </a:extLst>
          </p:cNvPr>
          <p:cNvSpPr/>
          <p:nvPr/>
        </p:nvSpPr>
        <p:spPr>
          <a:xfrm>
            <a:off x="5797296" y="3410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8BE4B52B-14D6-3294-DC7A-D5A8850DDF27}"/>
              </a:ext>
            </a:extLst>
          </p:cNvPr>
          <p:cNvSpPr/>
          <p:nvPr/>
        </p:nvSpPr>
        <p:spPr>
          <a:xfrm>
            <a:off x="5797296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B7F4BD4-8EC6-FBE5-F387-3A35E2823FC5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ParkSmart Pro  ·  Smart Parking Solution</a:t>
            </a:r>
            <a:endParaRPr lang="en-US" sz="9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FCA0312A-82FE-F3B1-E222-A0D753FF0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3" y="1097280"/>
            <a:ext cx="8961825" cy="381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24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52A50F-5907-378F-C67A-C8A6D988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DA91AE-2DBF-FFBB-4DDE-80EFFFE33EBB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414237-B21E-3721-357C-C54CFCC8F049}"/>
              </a:ext>
            </a:extLst>
          </p:cNvPr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440FF7-90A5-B720-2DEA-F86A8830A842}"/>
              </a:ext>
            </a:extLst>
          </p:cNvPr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BF9637-3E09-F5F9-FA26-749F506316D0}"/>
              </a:ext>
            </a:extLst>
          </p:cNvPr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Proof of Prompts generating codes </a:t>
            </a:r>
            <a:endParaRPr lang="en-US" sz="2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E72569F-5E3B-4DDD-1FAB-17B6D2A493CE}"/>
              </a:ext>
            </a:extLst>
          </p:cNvPr>
          <p:cNvSpPr/>
          <p:nvPr/>
        </p:nvSpPr>
        <p:spPr>
          <a:xfrm>
            <a:off x="4572000" y="1453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BDB0A90-6502-7545-EB7E-1EF4EA446528}"/>
              </a:ext>
            </a:extLst>
          </p:cNvPr>
          <p:cNvSpPr/>
          <p:nvPr/>
        </p:nvSpPr>
        <p:spPr>
          <a:xfrm>
            <a:off x="4160520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C1CC97B-95BC-7076-960F-4C45AF908B90}"/>
              </a:ext>
            </a:extLst>
          </p:cNvPr>
          <p:cNvSpPr/>
          <p:nvPr/>
        </p:nvSpPr>
        <p:spPr>
          <a:xfrm>
            <a:off x="5715000" y="1115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06D6EA8-1C7B-D20B-8E7A-817C94D0B7B8}"/>
              </a:ext>
            </a:extLst>
          </p:cNvPr>
          <p:cNvSpPr/>
          <p:nvPr/>
        </p:nvSpPr>
        <p:spPr>
          <a:xfrm>
            <a:off x="5797296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A2E1D525-62AE-5758-27B1-4F6A23DD7167}"/>
              </a:ext>
            </a:extLst>
          </p:cNvPr>
          <p:cNvSpPr/>
          <p:nvPr/>
        </p:nvSpPr>
        <p:spPr>
          <a:xfrm>
            <a:off x="5797296" y="2322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CA4F378D-EBF1-4B8A-E9CE-BC2260F2A7A2}"/>
              </a:ext>
            </a:extLst>
          </p:cNvPr>
          <p:cNvSpPr/>
          <p:nvPr/>
        </p:nvSpPr>
        <p:spPr>
          <a:xfrm>
            <a:off x="5797296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772FC89-DE1E-AD0A-F3F1-2F3E83321CB0}"/>
              </a:ext>
            </a:extLst>
          </p:cNvPr>
          <p:cNvSpPr/>
          <p:nvPr/>
        </p:nvSpPr>
        <p:spPr>
          <a:xfrm>
            <a:off x="5797296" y="3410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5DB8FAC5-EF01-F7FA-CBAD-A04FF60327DE}"/>
              </a:ext>
            </a:extLst>
          </p:cNvPr>
          <p:cNvSpPr/>
          <p:nvPr/>
        </p:nvSpPr>
        <p:spPr>
          <a:xfrm>
            <a:off x="5797296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30759D5C-9239-72D8-E8E6-4E2108DE3736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ParkSmart Pro  ·  Smart Parking Solution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851B3-03AC-6A59-A984-9216780B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11" y="1097280"/>
            <a:ext cx="8806375" cy="378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28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979C9-389A-A2E3-B38D-4C8805EB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34AD02-F273-776A-A3B2-FFEAC72D82DD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8AB7E3C-3CBE-617A-CAE0-6C40B92F9AEE}"/>
              </a:ext>
            </a:extLst>
          </p:cNvPr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BEB179-AB32-9ABB-56D1-DD8772A542E2}"/>
              </a:ext>
            </a:extLst>
          </p:cNvPr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B1B9FB-603C-5D1F-AF43-B9EAB6FD7C6A}"/>
              </a:ext>
            </a:extLst>
          </p:cNvPr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Proof of Prompts generating codes </a:t>
            </a:r>
            <a:endParaRPr lang="en-US" sz="2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621BF3D-F3C6-BF0A-A30E-82CA07B12751}"/>
              </a:ext>
            </a:extLst>
          </p:cNvPr>
          <p:cNvSpPr/>
          <p:nvPr/>
        </p:nvSpPr>
        <p:spPr>
          <a:xfrm>
            <a:off x="4572000" y="1453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1D791D5-658C-D33C-202A-09CF148C08EF}"/>
              </a:ext>
            </a:extLst>
          </p:cNvPr>
          <p:cNvSpPr/>
          <p:nvPr/>
        </p:nvSpPr>
        <p:spPr>
          <a:xfrm>
            <a:off x="4160520" y="3950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94D4771-9EE8-8F0A-5636-0F588486551D}"/>
              </a:ext>
            </a:extLst>
          </p:cNvPr>
          <p:cNvSpPr/>
          <p:nvPr/>
        </p:nvSpPr>
        <p:spPr>
          <a:xfrm>
            <a:off x="5715000" y="1115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DDD6BD8B-A2F5-2517-23F6-640E7C80173D}"/>
              </a:ext>
            </a:extLst>
          </p:cNvPr>
          <p:cNvSpPr/>
          <p:nvPr/>
        </p:nvSpPr>
        <p:spPr>
          <a:xfrm>
            <a:off x="5797296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2848A70-ED5C-4E73-75C0-46014157E005}"/>
              </a:ext>
            </a:extLst>
          </p:cNvPr>
          <p:cNvSpPr/>
          <p:nvPr/>
        </p:nvSpPr>
        <p:spPr>
          <a:xfrm>
            <a:off x="5797296" y="2322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5474C25F-22C4-2983-4BBD-18A610CED87C}"/>
              </a:ext>
            </a:extLst>
          </p:cNvPr>
          <p:cNvSpPr/>
          <p:nvPr/>
        </p:nvSpPr>
        <p:spPr>
          <a:xfrm>
            <a:off x="5797296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03A93CEF-53BB-15EC-8FCF-C6CB6D9DF345}"/>
              </a:ext>
            </a:extLst>
          </p:cNvPr>
          <p:cNvSpPr/>
          <p:nvPr/>
        </p:nvSpPr>
        <p:spPr>
          <a:xfrm>
            <a:off x="5797296" y="3410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74A7733E-DEBD-F111-5E91-11A3AA2C46DA}"/>
              </a:ext>
            </a:extLst>
          </p:cNvPr>
          <p:cNvSpPr/>
          <p:nvPr/>
        </p:nvSpPr>
        <p:spPr>
          <a:xfrm>
            <a:off x="5797296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80ADA16-EF1E-26A7-39B0-94F65FF496B5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ParkSmart Pro  ·  Smart Parking Solution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B85C8D-9718-224D-29E0-8ABAC4D59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09" y="1115569"/>
            <a:ext cx="8862646" cy="37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73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References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" cy="804672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1978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366F1"/>
                </a:solidFill>
              </a:rPr>
              <a:t>WEB TECHNOLOGY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" y="13624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MDN Web Docs — HTML5 Reference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15819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Mozilla Developer Network. (2024). HTML: HyperText Markup Language. https://developer.mozilla.org/en-US/docs/Web/HTML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43000"/>
            <a:ext cx="411480" cy="804672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11978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366F1"/>
                </a:solidFill>
              </a:rPr>
              <a:t>WEB TECHNOLOGY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66360" y="13624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MDN Web Docs — CSS3 Reference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66360" y="15819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Mozilla Developer Network. (2024). CSS: Cascading Style Sheets. https://developer.mozilla.org/en-US/docs/Web/CSS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075688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075688"/>
            <a:ext cx="411480" cy="804672"/>
          </a:xfrm>
          <a:prstGeom prst="rect">
            <a:avLst/>
          </a:prstGeom>
          <a:solidFill>
            <a:srgbClr val="EAB308">
              <a:alpha val="20000"/>
            </a:srgbClr>
          </a:solidFill>
          <a:ln w="1270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07568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B308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1305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EAB308"/>
                </a:solidFill>
              </a:rPr>
              <a:t>PROGRAMMING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77240" y="22951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JavaScript — The Definitive Guide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2514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Flanagan, D. (2020). JavaScript: The Definitive Guide (7th ed.). O'Reilly Media. ISBN: 978-1491952023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075688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075688"/>
            <a:ext cx="411480" cy="8046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07568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21305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10B981"/>
                </a:solidFill>
              </a:rPr>
              <a:t>TYPOGRAPHY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66360" y="22951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Google Fonts — Poppins Typeface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66360" y="2514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Google Fonts. (2024). Poppins — Google Fonts. https://fonts.google.com/specimen/Poppins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008376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008376"/>
            <a:ext cx="411480" cy="80467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00837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06324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B5CF6"/>
                </a:solidFill>
              </a:rPr>
              <a:t>WEB STORAGE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77240" y="32278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 Storage API — localStorage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" y="3447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W3C / WHATWG. (2024). Web Storage API. https://developer.mozilla.org/en-US/docs/Web/API/Window/localStorage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3008376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008376"/>
            <a:ext cx="411480" cy="80467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00837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306324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F59E0B"/>
                </a:solidFill>
              </a:rPr>
              <a:t>IMAGE ASSETS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66360" y="32278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Unsplash Free Photography API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66360" y="3447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Unsplash. (2024). Beautiful free photos. https://unsplash.com — Used for city images and background.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941064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941064"/>
            <a:ext cx="411480" cy="8046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941064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07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7240" y="399592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10B981"/>
                </a:solidFill>
              </a:rPr>
              <a:t>AI TOOLS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77240" y="41605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ChatGPT / Claude AI (Coding Assistance)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77240" y="43799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OpenAI / Anthropic. (2024). AI assistants used for code suggestions, debugging, and content generation during development.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3941064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3941064"/>
            <a:ext cx="411480" cy="804672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941064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</a:rPr>
              <a:t>08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166360" y="399592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366F1"/>
                </a:solidFill>
              </a:rPr>
              <a:t>DEVELOPMENT TOOL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166360" y="41605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Visual Studio Code — Code Editor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166360" y="43799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Microsoft. (2024). Visual Studio Code. https://code.visualstudio.com — Primary IDE used throughout development.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ParkSmart Pro  ·  Smart Parking Solution  ·  Madhuvani Nallala · CSE-AIML 3rd Year 2nd Sem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1456</Words>
  <Application>Microsoft Office PowerPoint</Application>
  <PresentationFormat>On-screen Show (16:9)</PresentationFormat>
  <Paragraphs>276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ParkSmart Pro</dc:title>
  <dc:subject>PptxGenJS Presentation</dc:subject>
  <dc:creator>PptxGenJS</dc:creator>
  <cp:lastModifiedBy>Nallala Madhuvani</cp:lastModifiedBy>
  <cp:revision>3</cp:revision>
  <dcterms:created xsi:type="dcterms:W3CDTF">2026-03-31T09:13:51Z</dcterms:created>
  <dcterms:modified xsi:type="dcterms:W3CDTF">2026-04-07T12:03:42Z</dcterms:modified>
</cp:coreProperties>
</file>